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F1F"/>
          </a:solidFill>
          <a:ln w="12700">
            <a:solidFill>
              <a:srgbClr val="0A1F1F"/>
            </a:solidFill>
            <a:prstDash val="solid"/>
          </a:ln>
        </p:spPr>
      </p:sp>
      <p:sp>
        <p:nvSpPr>
          <p:cNvPr id="3" name="Shape 1"/>
          <p:cNvSpPr/>
          <p:nvPr/>
        </p:nvSpPr>
        <p:spPr>
          <a:xfrm>
            <a:off x="-1371600" y="-914400"/>
            <a:ext cx="4572000" cy="4572000"/>
          </a:xfrm>
          <a:prstGeom prst="ellipse">
            <a:avLst/>
          </a:prstGeom>
          <a:solidFill>
            <a:srgbClr val="00897B">
              <a:alpha val="12000"/>
            </a:srgbClr>
          </a:solidFill>
          <a:ln w="12700">
            <a:solidFill>
              <a:srgbClr val="00897B">
                <a:alpha val="12000"/>
              </a:srgbClr>
            </a:solidFill>
            <a:prstDash val="solid"/>
          </a:ln>
        </p:spPr>
      </p:sp>
      <p:sp>
        <p:nvSpPr>
          <p:cNvPr id="4" name="Shape 2"/>
          <p:cNvSpPr/>
          <p:nvPr/>
        </p:nvSpPr>
        <p:spPr>
          <a:xfrm>
            <a:off x="6400800" y="1828800"/>
            <a:ext cx="3657600" cy="3657600"/>
          </a:xfrm>
          <a:prstGeom prst="ellipse">
            <a:avLst/>
          </a:prstGeom>
          <a:solidFill>
            <a:srgbClr val="1E88E5">
              <a:alpha val="10000"/>
            </a:srgbClr>
          </a:solidFill>
          <a:ln w="12700">
            <a:solidFill>
              <a:srgbClr val="1E88E5">
                <a:alpha val="10000"/>
              </a:srgbClr>
            </a:solidFill>
            <a:prstDash val="solid"/>
          </a:ln>
        </p:spPr>
      </p:sp>
      <p:sp>
        <p:nvSpPr>
          <p:cNvPr id="5" name="Shape 3"/>
          <p:cNvSpPr/>
          <p:nvPr/>
        </p:nvSpPr>
        <p:spPr>
          <a:xfrm>
            <a:off x="2926080" y="822960"/>
            <a:ext cx="3291840" cy="292608"/>
          </a:xfrm>
          <a:prstGeom prst="roundRect">
            <a:avLst>
              <a:gd name="adj" fmla="val 50000"/>
            </a:avLst>
          </a:prstGeom>
          <a:solidFill>
            <a:srgbClr val="00897B">
              <a:alpha val="28000"/>
            </a:srgbClr>
          </a:solidFill>
          <a:ln w="6350">
            <a:solidFill>
              <a:srgbClr val="00897B">
                <a:alpha val="45000"/>
              </a:srgbClr>
            </a:solidFill>
            <a:prstDash val="solid"/>
          </a:ln>
        </p:spPr>
      </p:sp>
      <p:sp>
        <p:nvSpPr>
          <p:cNvPr id="6" name="Text 4"/>
          <p:cNvSpPr/>
          <p:nvPr/>
        </p:nvSpPr>
        <p:spPr>
          <a:xfrm>
            <a:off x="2926080" y="822960"/>
            <a:ext cx="3291840" cy="292608"/>
          </a:xfrm>
          <a:prstGeom prst="rect">
            <a:avLst/>
          </a:prstGeom>
          <a:noFill/>
          <a:ln/>
        </p:spPr>
        <p:txBody>
          <a:bodyPr wrap="square" rtlCol="0" anchor="ctr"/>
          <a:lstStyle/>
          <a:p>
            <a:pPr algn="ctr" indent="0" marL="0">
              <a:buNone/>
            </a:pPr>
            <a:r>
              <a:rPr lang="en-US" sz="700" b="1" spc="100" kern="0" dirty="0">
                <a:solidFill>
                  <a:srgbClr val="1E88E5"/>
                </a:solidFill>
                <a:latin typeface="Calibri" pitchFamily="34" charset="0"/>
                <a:ea typeface="Calibri" pitchFamily="34" charset="-122"/>
                <a:cs typeface="Calibri" pitchFamily="34" charset="-120"/>
              </a:rPr>
              <a:t>Prophet · ARIMA · Time-Series ML</a:t>
            </a:r>
            <a:endParaRPr lang="en-US" sz="700" dirty="0"/>
          </a:p>
        </p:txBody>
      </p:sp>
      <p:sp>
        <p:nvSpPr>
          <p:cNvPr id="7" name="Text 5"/>
          <p:cNvSpPr/>
          <p:nvPr/>
        </p:nvSpPr>
        <p:spPr>
          <a:xfrm>
            <a:off x="1097280" y="1234440"/>
            <a:ext cx="6949440" cy="1737360"/>
          </a:xfrm>
          <a:prstGeom prst="rect">
            <a:avLst/>
          </a:prstGeom>
          <a:noFill/>
          <a:ln/>
        </p:spPr>
        <p:txBody>
          <a:bodyPr wrap="square" rtlCol="0" anchor="ctr"/>
          <a:lstStyle/>
          <a:p>
            <a:pPr algn="ctr" indent="0" marL="0">
              <a:lnSpc>
                <a:spcPct val="115000"/>
              </a:lnSpc>
              <a:buNone/>
            </a:pPr>
            <a:r>
              <a:rPr lang="en-US" sz="3800" b="1" dirty="0">
                <a:solidFill>
                  <a:srgbClr val="FFFFFF"/>
                </a:solidFill>
                <a:latin typeface="Calibri" pitchFamily="34" charset="0"/>
                <a:ea typeface="Calibri" pitchFamily="34" charset="-122"/>
                <a:cs typeface="Calibri" pitchFamily="34" charset="-120"/>
              </a:rPr>
              <a:t>EV Charging Demand</a:t>
            </a:r>
            <a:endParaRPr lang="en-US" sz="3800" dirty="0"/>
          </a:p>
          <a:p>
            <a:pPr algn="ctr" indent="0" marL="0">
              <a:lnSpc>
                <a:spcPct val="115000"/>
              </a:lnSpc>
              <a:buNone/>
            </a:pPr>
            <a:r>
              <a:rPr lang="en-US" sz="3800" b="1" dirty="0">
                <a:solidFill>
                  <a:srgbClr val="FFFFFF"/>
                </a:solidFill>
                <a:latin typeface="Calibri" pitchFamily="34" charset="0"/>
                <a:ea typeface="Calibri" pitchFamily="34" charset="-122"/>
                <a:cs typeface="Calibri" pitchFamily="34" charset="-120"/>
              </a:rPr>
              <a:t>Forecasting</a:t>
            </a:r>
            <a:endParaRPr lang="en-US" sz="3800" dirty="0"/>
          </a:p>
        </p:txBody>
      </p:sp>
      <p:sp>
        <p:nvSpPr>
          <p:cNvPr id="8" name="Text 6"/>
          <p:cNvSpPr/>
          <p:nvPr/>
        </p:nvSpPr>
        <p:spPr>
          <a:xfrm>
            <a:off x="1188720" y="2971800"/>
            <a:ext cx="6766560" cy="777240"/>
          </a:xfrm>
          <a:prstGeom prst="rect">
            <a:avLst/>
          </a:prstGeom>
          <a:noFill/>
          <a:ln/>
        </p:spPr>
        <p:txBody>
          <a:bodyPr wrap="square" rtlCol="0" anchor="ctr"/>
          <a:lstStyle/>
          <a:p>
            <a:pPr algn="ctr" indent="0" marL="0">
              <a:lnSpc>
                <a:spcPct val="150000"/>
              </a:lnSpc>
              <a:buNone/>
            </a:pPr>
            <a:r>
              <a:rPr lang="en-US" sz="1100" dirty="0">
                <a:solidFill>
                  <a:srgbClr val="A8C9C9"/>
                </a:solidFill>
                <a:latin typeface="Calibri" pitchFamily="34" charset="0"/>
                <a:ea typeface="Calibri" pitchFamily="34" charset="-122"/>
                <a:cs typeface="Calibri" pitchFamily="34" charset="-120"/>
              </a:rPr>
              <a:t>Forecasting hourly EV station demand using weather, time, and traffic patterns</a:t>
            </a:r>
            <a:endParaRPr lang="en-US" sz="1100" dirty="0"/>
          </a:p>
          <a:p>
            <a:pPr algn="ctr" indent="0" marL="0">
              <a:lnSpc>
                <a:spcPct val="150000"/>
              </a:lnSpc>
              <a:buNone/>
            </a:pPr>
            <a:r>
              <a:rPr lang="en-US" sz="1100" dirty="0">
                <a:solidFill>
                  <a:srgbClr val="A8C9C9"/>
                </a:solidFill>
                <a:latin typeface="Calibri" pitchFamily="34" charset="0"/>
                <a:ea typeface="Calibri" pitchFamily="34" charset="-122"/>
                <a:cs typeface="Calibri" pitchFamily="34" charset="-120"/>
              </a:rPr>
              <a:t>to optimize charging infrastructure capacity</a:t>
            </a:r>
            <a:endParaRPr lang="en-US" sz="1100" dirty="0"/>
          </a:p>
        </p:txBody>
      </p:sp>
      <p:sp>
        <p:nvSpPr>
          <p:cNvPr id="9" name="Shape 7"/>
          <p:cNvSpPr/>
          <p:nvPr/>
        </p:nvSpPr>
        <p:spPr>
          <a:xfrm>
            <a:off x="1371600" y="3840480"/>
            <a:ext cx="1828800" cy="685800"/>
          </a:xfrm>
          <a:prstGeom prst="roundRect">
            <a:avLst>
              <a:gd name="adj" fmla="val 16000"/>
            </a:avLst>
          </a:prstGeom>
          <a:solidFill>
            <a:srgbClr val="123535">
              <a:alpha val="70000"/>
            </a:srgbClr>
          </a:solidFill>
          <a:ln w="6350">
            <a:solidFill>
              <a:srgbClr val="00897B">
                <a:alpha val="40000"/>
              </a:srgbClr>
            </a:solidFill>
            <a:prstDash val="solid"/>
          </a:ln>
        </p:spPr>
      </p:sp>
      <p:sp>
        <p:nvSpPr>
          <p:cNvPr id="10" name="Text 8"/>
          <p:cNvSpPr/>
          <p:nvPr/>
        </p:nvSpPr>
        <p:spPr>
          <a:xfrm>
            <a:off x="1371600" y="3858768"/>
            <a:ext cx="1828800" cy="347472"/>
          </a:xfrm>
          <a:prstGeom prst="rect">
            <a:avLst/>
          </a:prstGeom>
          <a:noFill/>
          <a:ln/>
        </p:spPr>
        <p:txBody>
          <a:bodyPr wrap="square" rtlCol="0" anchor="ctr"/>
          <a:lstStyle/>
          <a:p>
            <a:pPr algn="ctr" indent="0" marL="0">
              <a:buNone/>
            </a:pPr>
            <a:r>
              <a:rPr lang="en-US" sz="1200" b="1" dirty="0">
                <a:solidFill>
                  <a:srgbClr val="FFD54F"/>
                </a:solidFill>
                <a:latin typeface="Calibri" pitchFamily="34" charset="0"/>
                <a:ea typeface="Calibri" pitchFamily="34" charset="-122"/>
                <a:cs typeface="Calibri" pitchFamily="34" charset="-120"/>
              </a:rPr>
              <a:t>8,784 Hours</a:t>
            </a:r>
            <a:endParaRPr lang="en-US" sz="1200" dirty="0"/>
          </a:p>
        </p:txBody>
      </p:sp>
      <p:sp>
        <p:nvSpPr>
          <p:cNvPr id="11" name="Text 9"/>
          <p:cNvSpPr/>
          <p:nvPr/>
        </p:nvSpPr>
        <p:spPr>
          <a:xfrm>
            <a:off x="1371600" y="4178808"/>
            <a:ext cx="1828800" cy="274320"/>
          </a:xfrm>
          <a:prstGeom prst="rect">
            <a:avLst/>
          </a:prstGeom>
          <a:noFill/>
          <a:ln/>
        </p:spPr>
        <p:txBody>
          <a:bodyPr wrap="square" rtlCol="0" anchor="ctr"/>
          <a:lstStyle/>
          <a:p>
            <a:pPr algn="ctr" indent="0" marL="0">
              <a:buNone/>
            </a:pPr>
            <a:r>
              <a:rPr lang="en-US" sz="700" dirty="0">
                <a:solidFill>
                  <a:srgbClr val="A8C9C9"/>
                </a:solidFill>
                <a:latin typeface="Calibri" pitchFamily="34" charset="0"/>
                <a:ea typeface="Calibri" pitchFamily="34" charset="-122"/>
                <a:cs typeface="Calibri" pitchFamily="34" charset="-120"/>
              </a:rPr>
              <a:t>Forecasted</a:t>
            </a:r>
            <a:endParaRPr lang="en-US" sz="700" dirty="0"/>
          </a:p>
        </p:txBody>
      </p:sp>
      <p:sp>
        <p:nvSpPr>
          <p:cNvPr id="12" name="Shape 10"/>
          <p:cNvSpPr/>
          <p:nvPr/>
        </p:nvSpPr>
        <p:spPr>
          <a:xfrm>
            <a:off x="3657600" y="3840480"/>
            <a:ext cx="1828800" cy="685800"/>
          </a:xfrm>
          <a:prstGeom prst="roundRect">
            <a:avLst>
              <a:gd name="adj" fmla="val 16000"/>
            </a:avLst>
          </a:prstGeom>
          <a:solidFill>
            <a:srgbClr val="123535">
              <a:alpha val="70000"/>
            </a:srgbClr>
          </a:solidFill>
          <a:ln w="6350">
            <a:solidFill>
              <a:srgbClr val="00897B">
                <a:alpha val="40000"/>
              </a:srgbClr>
            </a:solidFill>
            <a:prstDash val="solid"/>
          </a:ln>
        </p:spPr>
      </p:sp>
      <p:sp>
        <p:nvSpPr>
          <p:cNvPr id="13" name="Text 11"/>
          <p:cNvSpPr/>
          <p:nvPr/>
        </p:nvSpPr>
        <p:spPr>
          <a:xfrm>
            <a:off x="3657600" y="3858768"/>
            <a:ext cx="1828800" cy="347472"/>
          </a:xfrm>
          <a:prstGeom prst="rect">
            <a:avLst/>
          </a:prstGeom>
          <a:noFill/>
          <a:ln/>
        </p:spPr>
        <p:txBody>
          <a:bodyPr wrap="square" rtlCol="0" anchor="ctr"/>
          <a:lstStyle/>
          <a:p>
            <a:pPr algn="ctr" indent="0" marL="0">
              <a:buNone/>
            </a:pPr>
            <a:r>
              <a:rPr lang="en-US" sz="1200" b="1" dirty="0">
                <a:solidFill>
                  <a:srgbClr val="FFD54F"/>
                </a:solidFill>
                <a:latin typeface="Calibri" pitchFamily="34" charset="0"/>
                <a:ea typeface="Calibri" pitchFamily="34" charset="-122"/>
                <a:cs typeface="Calibri" pitchFamily="34" charset="-120"/>
              </a:rPr>
              <a:t>13.9% MAPE</a:t>
            </a:r>
            <a:endParaRPr lang="en-US" sz="1200" dirty="0"/>
          </a:p>
        </p:txBody>
      </p:sp>
      <p:sp>
        <p:nvSpPr>
          <p:cNvPr id="14" name="Text 12"/>
          <p:cNvSpPr/>
          <p:nvPr/>
        </p:nvSpPr>
        <p:spPr>
          <a:xfrm>
            <a:off x="3657600" y="4178808"/>
            <a:ext cx="1828800" cy="274320"/>
          </a:xfrm>
          <a:prstGeom prst="rect">
            <a:avLst/>
          </a:prstGeom>
          <a:noFill/>
          <a:ln/>
        </p:spPr>
        <p:txBody>
          <a:bodyPr wrap="square" rtlCol="0" anchor="ctr"/>
          <a:lstStyle/>
          <a:p>
            <a:pPr algn="ctr" indent="0" marL="0">
              <a:buNone/>
            </a:pPr>
            <a:r>
              <a:rPr lang="en-US" sz="700" dirty="0">
                <a:solidFill>
                  <a:srgbClr val="A8C9C9"/>
                </a:solidFill>
                <a:latin typeface="Calibri" pitchFamily="34" charset="0"/>
                <a:ea typeface="Calibri" pitchFamily="34" charset="-122"/>
                <a:cs typeface="Calibri" pitchFamily="34" charset="-120"/>
              </a:rPr>
              <a:t>Accuracy</a:t>
            </a:r>
            <a:endParaRPr lang="en-US" sz="700" dirty="0"/>
          </a:p>
        </p:txBody>
      </p:sp>
      <p:sp>
        <p:nvSpPr>
          <p:cNvPr id="15" name="Shape 13"/>
          <p:cNvSpPr/>
          <p:nvPr/>
        </p:nvSpPr>
        <p:spPr>
          <a:xfrm>
            <a:off x="5943600" y="3840480"/>
            <a:ext cx="1828800" cy="685800"/>
          </a:xfrm>
          <a:prstGeom prst="roundRect">
            <a:avLst>
              <a:gd name="adj" fmla="val 16000"/>
            </a:avLst>
          </a:prstGeom>
          <a:solidFill>
            <a:srgbClr val="123535">
              <a:alpha val="70000"/>
            </a:srgbClr>
          </a:solidFill>
          <a:ln w="6350">
            <a:solidFill>
              <a:srgbClr val="00897B">
                <a:alpha val="40000"/>
              </a:srgbClr>
            </a:solidFill>
            <a:prstDash val="solid"/>
          </a:ln>
        </p:spPr>
      </p:sp>
      <p:sp>
        <p:nvSpPr>
          <p:cNvPr id="16" name="Text 14"/>
          <p:cNvSpPr/>
          <p:nvPr/>
        </p:nvSpPr>
        <p:spPr>
          <a:xfrm>
            <a:off x="5943600" y="3858768"/>
            <a:ext cx="1828800" cy="347472"/>
          </a:xfrm>
          <a:prstGeom prst="rect">
            <a:avLst/>
          </a:prstGeom>
          <a:noFill/>
          <a:ln/>
        </p:spPr>
        <p:txBody>
          <a:bodyPr wrap="square" rtlCol="0" anchor="ctr"/>
          <a:lstStyle/>
          <a:p>
            <a:pPr algn="ctr" indent="0" marL="0">
              <a:buNone/>
            </a:pPr>
            <a:r>
              <a:rPr lang="en-US" sz="1200" b="1" dirty="0">
                <a:solidFill>
                  <a:srgbClr val="FFD54F"/>
                </a:solidFill>
                <a:latin typeface="Calibri" pitchFamily="34" charset="0"/>
                <a:ea typeface="Calibri" pitchFamily="34" charset="-122"/>
                <a:cs typeface="Calibri" pitchFamily="34" charset="-120"/>
              </a:rPr>
              <a:t>5 Stations</a:t>
            </a:r>
            <a:endParaRPr lang="en-US" sz="1200" dirty="0"/>
          </a:p>
        </p:txBody>
      </p:sp>
      <p:sp>
        <p:nvSpPr>
          <p:cNvPr id="17" name="Text 15"/>
          <p:cNvSpPr/>
          <p:nvPr/>
        </p:nvSpPr>
        <p:spPr>
          <a:xfrm>
            <a:off x="5943600" y="4178808"/>
            <a:ext cx="1828800" cy="274320"/>
          </a:xfrm>
          <a:prstGeom prst="rect">
            <a:avLst/>
          </a:prstGeom>
          <a:noFill/>
          <a:ln/>
        </p:spPr>
        <p:txBody>
          <a:bodyPr wrap="square" rtlCol="0" anchor="ctr"/>
          <a:lstStyle/>
          <a:p>
            <a:pPr algn="ctr" indent="0" marL="0">
              <a:buNone/>
            </a:pPr>
            <a:r>
              <a:rPr lang="en-US" sz="700" dirty="0">
                <a:solidFill>
                  <a:srgbClr val="A8C9C9"/>
                </a:solidFill>
                <a:latin typeface="Calibri" pitchFamily="34" charset="0"/>
                <a:ea typeface="Calibri" pitchFamily="34" charset="-122"/>
                <a:cs typeface="Calibri" pitchFamily="34" charset="-120"/>
              </a:rPr>
              <a:t>Network</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F1F"/>
          </a:solidFill>
          <a:ln w="12700">
            <a:solidFill>
              <a:srgbClr val="0A1F1F"/>
            </a:solidFill>
            <a:prstDash val="solid"/>
          </a:ln>
        </p:spPr>
      </p:sp>
      <p:sp>
        <p:nvSpPr>
          <p:cNvPr id="3" name="Shape 1"/>
          <p:cNvSpPr/>
          <p:nvPr/>
        </p:nvSpPr>
        <p:spPr>
          <a:xfrm>
            <a:off x="-1371600" y="-914400"/>
            <a:ext cx="4572000" cy="4572000"/>
          </a:xfrm>
          <a:prstGeom prst="ellipse">
            <a:avLst/>
          </a:prstGeom>
          <a:solidFill>
            <a:srgbClr val="00897B">
              <a:alpha val="12000"/>
            </a:srgbClr>
          </a:solidFill>
          <a:ln w="12700">
            <a:solidFill>
              <a:srgbClr val="00897B">
                <a:alpha val="12000"/>
              </a:srgbClr>
            </a:solidFill>
            <a:prstDash val="solid"/>
          </a:ln>
        </p:spPr>
      </p:sp>
      <p:sp>
        <p:nvSpPr>
          <p:cNvPr id="4" name="Shape 2"/>
          <p:cNvSpPr/>
          <p:nvPr/>
        </p:nvSpPr>
        <p:spPr>
          <a:xfrm>
            <a:off x="6400800" y="1828800"/>
            <a:ext cx="3657600" cy="3657600"/>
          </a:xfrm>
          <a:prstGeom prst="ellipse">
            <a:avLst/>
          </a:prstGeom>
          <a:solidFill>
            <a:srgbClr val="1E88E5">
              <a:alpha val="10000"/>
            </a:srgbClr>
          </a:solidFill>
          <a:ln w="12700">
            <a:solidFill>
              <a:srgbClr val="1E88E5">
                <a:alpha val="10000"/>
              </a:srgbClr>
            </a:solidFill>
            <a:prstDash val="solid"/>
          </a:ln>
        </p:spPr>
      </p:sp>
      <p:sp>
        <p:nvSpPr>
          <p:cNvPr id="5" name="Text 3"/>
          <p:cNvSpPr/>
          <p:nvPr/>
        </p:nvSpPr>
        <p:spPr>
          <a:xfrm>
            <a:off x="457200" y="256032"/>
            <a:ext cx="5486400" cy="201168"/>
          </a:xfrm>
          <a:prstGeom prst="rect">
            <a:avLst/>
          </a:prstGeom>
          <a:noFill/>
          <a:ln/>
        </p:spPr>
        <p:txBody>
          <a:bodyPr wrap="square" rtlCol="0" anchor="ctr"/>
          <a:lstStyle/>
          <a:p>
            <a:pPr indent="0" marL="0">
              <a:buNone/>
            </a:pPr>
            <a:r>
              <a:rPr lang="en-US" sz="700" b="1" spc="200" kern="0" dirty="0">
                <a:solidFill>
                  <a:srgbClr val="1E88E5"/>
                </a:solidFill>
                <a:latin typeface="Calibri" pitchFamily="34" charset="0"/>
                <a:ea typeface="Calibri" pitchFamily="34" charset="-122"/>
                <a:cs typeface="Calibri" pitchFamily="34" charset="-120"/>
              </a:rPr>
              <a:t>PROJECT OVERVIEW</a:t>
            </a:r>
            <a:endParaRPr lang="en-US" sz="700" dirty="0"/>
          </a:p>
        </p:txBody>
      </p:sp>
      <p:sp>
        <p:nvSpPr>
          <p:cNvPr id="6" name="Text 4"/>
          <p:cNvSpPr/>
          <p:nvPr/>
        </p:nvSpPr>
        <p:spPr>
          <a:xfrm>
            <a:off x="457200" y="41148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Objective &amp; Methodology</a:t>
            </a:r>
            <a:endParaRPr lang="en-US" sz="2200" dirty="0"/>
          </a:p>
        </p:txBody>
      </p:sp>
      <p:sp>
        <p:nvSpPr>
          <p:cNvPr id="7" name="Shape 5"/>
          <p:cNvSpPr/>
          <p:nvPr/>
        </p:nvSpPr>
        <p:spPr>
          <a:xfrm>
            <a:off x="457200" y="1005840"/>
            <a:ext cx="8229600" cy="960120"/>
          </a:xfrm>
          <a:prstGeom prst="roundRect">
            <a:avLst>
              <a:gd name="adj" fmla="val 11429"/>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8" name="Text 6"/>
          <p:cNvSpPr/>
          <p:nvPr/>
        </p:nvSpPr>
        <p:spPr>
          <a:xfrm>
            <a:off x="685800" y="1042416"/>
            <a:ext cx="3657600" cy="256032"/>
          </a:xfrm>
          <a:prstGeom prst="rect">
            <a:avLst/>
          </a:prstGeom>
          <a:noFill/>
          <a:ln/>
        </p:spPr>
        <p:txBody>
          <a:bodyPr wrap="square" rtlCol="0" anchor="ctr"/>
          <a:lstStyle/>
          <a:p>
            <a:pPr indent="0" marL="0">
              <a:buNone/>
            </a:pPr>
            <a:r>
              <a:rPr lang="en-US" sz="800" b="1" dirty="0">
                <a:solidFill>
                  <a:srgbClr val="1E88E5"/>
                </a:solidFill>
                <a:latin typeface="Calibri" pitchFamily="34" charset="0"/>
                <a:ea typeface="Calibri" pitchFamily="34" charset="-122"/>
                <a:cs typeface="Calibri" pitchFamily="34" charset="-120"/>
              </a:rPr>
              <a:t>🎯  Objective</a:t>
            </a:r>
            <a:endParaRPr lang="en-US" sz="800" dirty="0"/>
          </a:p>
        </p:txBody>
      </p:sp>
      <p:sp>
        <p:nvSpPr>
          <p:cNvPr id="9" name="Text 7"/>
          <p:cNvSpPr/>
          <p:nvPr/>
        </p:nvSpPr>
        <p:spPr>
          <a:xfrm>
            <a:off x="685800" y="1261872"/>
            <a:ext cx="7772400" cy="594360"/>
          </a:xfrm>
          <a:prstGeom prst="rect">
            <a:avLst/>
          </a:prstGeom>
          <a:noFill/>
          <a:ln/>
        </p:spPr>
        <p:txBody>
          <a:bodyPr wrap="square" rtlCol="0" anchor="ctr"/>
          <a:lstStyle/>
          <a:p>
            <a:pPr indent="0" marL="0">
              <a:lnSpc>
                <a:spcPct val="140000"/>
              </a:lnSpc>
              <a:buNone/>
            </a:pPr>
            <a:r>
              <a:rPr lang="en-US" sz="950" dirty="0">
                <a:solidFill>
                  <a:srgbClr val="A8C9C9"/>
                </a:solidFill>
                <a:latin typeface="Calibri" pitchFamily="34" charset="0"/>
                <a:ea typeface="Calibri" pitchFamily="34" charset="-122"/>
                <a:cs typeface="Calibri" pitchFamily="34" charset="-120"/>
              </a:rPr>
              <a:t>Forecast hourly demand at EV charging stations using weather (temperature, precipitation, wind) and traffic data, to help operators plan capacity, set dynamic pricing, and reduce customer wait times during peak hours.</a:t>
            </a:r>
            <a:endParaRPr lang="en-US" sz="950" dirty="0"/>
          </a:p>
        </p:txBody>
      </p:sp>
      <p:sp>
        <p:nvSpPr>
          <p:cNvPr id="10" name="Shape 8"/>
          <p:cNvSpPr/>
          <p:nvPr/>
        </p:nvSpPr>
        <p:spPr>
          <a:xfrm>
            <a:off x="365760" y="2148840"/>
            <a:ext cx="1554480" cy="2514600"/>
          </a:xfrm>
          <a:prstGeom prst="roundRect">
            <a:avLst>
              <a:gd name="adj" fmla="val 7059"/>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11" name="Shape 9"/>
          <p:cNvSpPr/>
          <p:nvPr/>
        </p:nvSpPr>
        <p:spPr>
          <a:xfrm>
            <a:off x="868680" y="2194560"/>
            <a:ext cx="548640" cy="548640"/>
          </a:xfrm>
          <a:prstGeom prst="ellipse">
            <a:avLst/>
          </a:prstGeom>
          <a:solidFill>
            <a:srgbClr val="00897B">
              <a:alpha val="40000"/>
            </a:srgbClr>
          </a:solidFill>
          <a:ln w="6350">
            <a:solidFill>
              <a:srgbClr val="00897B">
                <a:alpha val="60000"/>
              </a:srgbClr>
            </a:solidFill>
            <a:prstDash val="solid"/>
          </a:ln>
        </p:spPr>
      </p:sp>
      <p:sp>
        <p:nvSpPr>
          <p:cNvPr id="12" name="Text 10"/>
          <p:cNvSpPr/>
          <p:nvPr/>
        </p:nvSpPr>
        <p:spPr>
          <a:xfrm>
            <a:off x="868680" y="2194560"/>
            <a:ext cx="54864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3" name="Text 11"/>
          <p:cNvSpPr/>
          <p:nvPr/>
        </p:nvSpPr>
        <p:spPr>
          <a:xfrm>
            <a:off x="411480" y="2834640"/>
            <a:ext cx="1463040" cy="548640"/>
          </a:xfrm>
          <a:prstGeom prst="rect">
            <a:avLst/>
          </a:prstGeom>
          <a:noFill/>
          <a:ln/>
        </p:spPr>
        <p:txBody>
          <a:bodyPr wrap="square" rtlCol="0" anchor="ctr"/>
          <a:lstStyle/>
          <a:p>
            <a:pPr algn="ctr" indent="0" marL="0">
              <a:lnSpc>
                <a:spcPct val="120000"/>
              </a:lnSpc>
              <a:buNone/>
            </a:pPr>
            <a:r>
              <a:rPr lang="en-US" sz="900" b="1" dirty="0">
                <a:solidFill>
                  <a:srgbClr val="FFFFFF"/>
                </a:solidFill>
                <a:latin typeface="Calibri" pitchFamily="34" charset="0"/>
                <a:ea typeface="Calibri" pitchFamily="34" charset="-122"/>
                <a:cs typeface="Calibri" pitchFamily="34" charset="-120"/>
              </a:rPr>
              <a:t>Merge Data</a:t>
            </a:r>
            <a:endParaRPr lang="en-US" sz="900" dirty="0"/>
          </a:p>
        </p:txBody>
      </p:sp>
      <p:sp>
        <p:nvSpPr>
          <p:cNvPr id="14" name="Text 12"/>
          <p:cNvSpPr/>
          <p:nvPr/>
        </p:nvSpPr>
        <p:spPr>
          <a:xfrm>
            <a:off x="411480" y="3401568"/>
            <a:ext cx="1463040" cy="731520"/>
          </a:xfrm>
          <a:prstGeom prst="rect">
            <a:avLst/>
          </a:prstGeom>
          <a:noFill/>
          <a:ln/>
        </p:spPr>
        <p:txBody>
          <a:bodyPr wrap="square" rtlCol="0" anchor="ctr"/>
          <a:lstStyle/>
          <a:p>
            <a:pPr algn="ctr" indent="0" marL="0">
              <a:lnSpc>
                <a:spcPct val="130000"/>
              </a:lnSpc>
              <a:buNone/>
            </a:pPr>
            <a:r>
              <a:rPr lang="en-US" sz="750" dirty="0">
                <a:solidFill>
                  <a:srgbClr val="A8C9C9"/>
                </a:solidFill>
                <a:latin typeface="Calibri" pitchFamily="34" charset="0"/>
                <a:ea typeface="Calibri" pitchFamily="34" charset="-122"/>
                <a:cs typeface="Calibri" pitchFamily="34" charset="-120"/>
              </a:rPr>
              <a:t>EV usage +</a:t>
            </a:r>
            <a:endParaRPr lang="en-US" sz="750" dirty="0"/>
          </a:p>
          <a:p>
            <a:pPr algn="ctr" indent="0" marL="0">
              <a:lnSpc>
                <a:spcPct val="130000"/>
              </a:lnSpc>
              <a:buNone/>
            </a:pPr>
            <a:r>
              <a:rPr lang="en-US" sz="750" dirty="0">
                <a:solidFill>
                  <a:srgbClr val="A8C9C9"/>
                </a:solidFill>
                <a:latin typeface="Calibri" pitchFamily="34" charset="0"/>
                <a:ea typeface="Calibri" pitchFamily="34" charset="-122"/>
                <a:cs typeface="Calibri" pitchFamily="34" charset="-120"/>
              </a:rPr>
              <a:t>weather + traffic</a:t>
            </a:r>
            <a:endParaRPr lang="en-US" sz="750" dirty="0"/>
          </a:p>
        </p:txBody>
      </p:sp>
      <p:sp>
        <p:nvSpPr>
          <p:cNvPr id="15" name="Shape 13"/>
          <p:cNvSpPr/>
          <p:nvPr/>
        </p:nvSpPr>
        <p:spPr>
          <a:xfrm>
            <a:off x="2066544" y="2148840"/>
            <a:ext cx="1554480" cy="2514600"/>
          </a:xfrm>
          <a:prstGeom prst="roundRect">
            <a:avLst>
              <a:gd name="adj" fmla="val 7059"/>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16" name="Shape 14"/>
          <p:cNvSpPr/>
          <p:nvPr/>
        </p:nvSpPr>
        <p:spPr>
          <a:xfrm>
            <a:off x="2569464" y="2194560"/>
            <a:ext cx="548640" cy="548640"/>
          </a:xfrm>
          <a:prstGeom prst="ellipse">
            <a:avLst/>
          </a:prstGeom>
          <a:solidFill>
            <a:srgbClr val="00897B">
              <a:alpha val="40000"/>
            </a:srgbClr>
          </a:solidFill>
          <a:ln w="6350">
            <a:solidFill>
              <a:srgbClr val="00897B">
                <a:alpha val="60000"/>
              </a:srgbClr>
            </a:solidFill>
            <a:prstDash val="solid"/>
          </a:ln>
        </p:spPr>
      </p:sp>
      <p:sp>
        <p:nvSpPr>
          <p:cNvPr id="17" name="Text 15"/>
          <p:cNvSpPr/>
          <p:nvPr/>
        </p:nvSpPr>
        <p:spPr>
          <a:xfrm>
            <a:off x="2569464" y="2194560"/>
            <a:ext cx="54864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8" name="Text 16"/>
          <p:cNvSpPr/>
          <p:nvPr/>
        </p:nvSpPr>
        <p:spPr>
          <a:xfrm>
            <a:off x="2112264" y="2834640"/>
            <a:ext cx="1463040" cy="548640"/>
          </a:xfrm>
          <a:prstGeom prst="rect">
            <a:avLst/>
          </a:prstGeom>
          <a:noFill/>
          <a:ln/>
        </p:spPr>
        <p:txBody>
          <a:bodyPr wrap="square" rtlCol="0" anchor="ctr"/>
          <a:lstStyle/>
          <a:p>
            <a:pPr algn="ctr" indent="0" marL="0">
              <a:lnSpc>
                <a:spcPct val="120000"/>
              </a:lnSpc>
              <a:buNone/>
            </a:pPr>
            <a:r>
              <a:rPr lang="en-US" sz="900" b="1" dirty="0">
                <a:solidFill>
                  <a:srgbClr val="FFFFFF"/>
                </a:solidFill>
                <a:latin typeface="Calibri" pitchFamily="34" charset="0"/>
                <a:ea typeface="Calibri" pitchFamily="34" charset="-122"/>
                <a:cs typeface="Calibri" pitchFamily="34" charset="-120"/>
              </a:rPr>
              <a:t>Explore</a:t>
            </a:r>
            <a:endParaRPr lang="en-US" sz="900" dirty="0"/>
          </a:p>
          <a:p>
            <a:pPr algn="ctr" indent="0" marL="0">
              <a:lnSpc>
                <a:spcPct val="120000"/>
              </a:lnSpc>
              <a:buNone/>
            </a:pPr>
            <a:r>
              <a:rPr lang="en-US" sz="900" b="1" dirty="0">
                <a:solidFill>
                  <a:srgbClr val="FFFFFF"/>
                </a:solidFill>
                <a:latin typeface="Calibri" pitchFamily="34" charset="0"/>
                <a:ea typeface="Calibri" pitchFamily="34" charset="-122"/>
                <a:cs typeface="Calibri" pitchFamily="34" charset="-120"/>
              </a:rPr>
              <a:t>Patterns</a:t>
            </a:r>
            <a:endParaRPr lang="en-US" sz="900" dirty="0"/>
          </a:p>
        </p:txBody>
      </p:sp>
      <p:sp>
        <p:nvSpPr>
          <p:cNvPr id="19" name="Text 17"/>
          <p:cNvSpPr/>
          <p:nvPr/>
        </p:nvSpPr>
        <p:spPr>
          <a:xfrm>
            <a:off x="2112264" y="3401568"/>
            <a:ext cx="1463040" cy="731520"/>
          </a:xfrm>
          <a:prstGeom prst="rect">
            <a:avLst/>
          </a:prstGeom>
          <a:noFill/>
          <a:ln/>
        </p:spPr>
        <p:txBody>
          <a:bodyPr wrap="square" rtlCol="0" anchor="ctr"/>
          <a:lstStyle/>
          <a:p>
            <a:pPr algn="ctr" indent="0" marL="0">
              <a:lnSpc>
                <a:spcPct val="130000"/>
              </a:lnSpc>
              <a:buNone/>
            </a:pPr>
            <a:r>
              <a:rPr lang="en-US" sz="750" dirty="0">
                <a:solidFill>
                  <a:srgbClr val="A8C9C9"/>
                </a:solidFill>
                <a:latin typeface="Calibri" pitchFamily="34" charset="0"/>
                <a:ea typeface="Calibri" pitchFamily="34" charset="-122"/>
                <a:cs typeface="Calibri" pitchFamily="34" charset="-120"/>
              </a:rPr>
              <a:t>Daily, weekly,</a:t>
            </a:r>
            <a:endParaRPr lang="en-US" sz="750" dirty="0"/>
          </a:p>
          <a:p>
            <a:pPr algn="ctr" indent="0" marL="0">
              <a:lnSpc>
                <a:spcPct val="130000"/>
              </a:lnSpc>
              <a:buNone/>
            </a:pPr>
            <a:r>
              <a:rPr lang="en-US" sz="750" dirty="0">
                <a:solidFill>
                  <a:srgbClr val="A8C9C9"/>
                </a:solidFill>
                <a:latin typeface="Calibri" pitchFamily="34" charset="0"/>
                <a:ea typeface="Calibri" pitchFamily="34" charset="-122"/>
                <a:cs typeface="Calibri" pitchFamily="34" charset="-120"/>
              </a:rPr>
              <a:t>seasonal trends</a:t>
            </a:r>
            <a:endParaRPr lang="en-US" sz="750" dirty="0"/>
          </a:p>
        </p:txBody>
      </p:sp>
      <p:sp>
        <p:nvSpPr>
          <p:cNvPr id="20" name="Shape 18"/>
          <p:cNvSpPr/>
          <p:nvPr/>
        </p:nvSpPr>
        <p:spPr>
          <a:xfrm>
            <a:off x="3767328" y="2148840"/>
            <a:ext cx="1554480" cy="2514600"/>
          </a:xfrm>
          <a:prstGeom prst="roundRect">
            <a:avLst>
              <a:gd name="adj" fmla="val 7059"/>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21" name="Shape 19"/>
          <p:cNvSpPr/>
          <p:nvPr/>
        </p:nvSpPr>
        <p:spPr>
          <a:xfrm>
            <a:off x="4270248" y="2194560"/>
            <a:ext cx="548640" cy="548640"/>
          </a:xfrm>
          <a:prstGeom prst="ellipse">
            <a:avLst/>
          </a:prstGeom>
          <a:solidFill>
            <a:srgbClr val="00897B">
              <a:alpha val="40000"/>
            </a:srgbClr>
          </a:solidFill>
          <a:ln w="6350">
            <a:solidFill>
              <a:srgbClr val="00897B">
                <a:alpha val="60000"/>
              </a:srgbClr>
            </a:solidFill>
            <a:prstDash val="solid"/>
          </a:ln>
        </p:spPr>
      </p:sp>
      <p:sp>
        <p:nvSpPr>
          <p:cNvPr id="22" name="Text 20"/>
          <p:cNvSpPr/>
          <p:nvPr/>
        </p:nvSpPr>
        <p:spPr>
          <a:xfrm>
            <a:off x="4270248" y="2194560"/>
            <a:ext cx="54864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3" name="Text 21"/>
          <p:cNvSpPr/>
          <p:nvPr/>
        </p:nvSpPr>
        <p:spPr>
          <a:xfrm>
            <a:off x="3813048" y="2834640"/>
            <a:ext cx="1463040" cy="548640"/>
          </a:xfrm>
          <a:prstGeom prst="rect">
            <a:avLst/>
          </a:prstGeom>
          <a:noFill/>
          <a:ln/>
        </p:spPr>
        <p:txBody>
          <a:bodyPr wrap="square" rtlCol="0" anchor="ctr"/>
          <a:lstStyle/>
          <a:p>
            <a:pPr algn="ctr" indent="0" marL="0">
              <a:lnSpc>
                <a:spcPct val="120000"/>
              </a:lnSpc>
              <a:buNone/>
            </a:pPr>
            <a:r>
              <a:rPr lang="en-US" sz="900" b="1" dirty="0">
                <a:solidFill>
                  <a:srgbClr val="FFFFFF"/>
                </a:solidFill>
                <a:latin typeface="Calibri" pitchFamily="34" charset="0"/>
                <a:ea typeface="Calibri" pitchFamily="34" charset="-122"/>
                <a:cs typeface="Calibri" pitchFamily="34" charset="-120"/>
              </a:rPr>
              <a:t>Engineer</a:t>
            </a:r>
            <a:endParaRPr lang="en-US" sz="900" dirty="0"/>
          </a:p>
          <a:p>
            <a:pPr algn="ctr" indent="0" marL="0">
              <a:lnSpc>
                <a:spcPct val="120000"/>
              </a:lnSpc>
              <a:buNone/>
            </a:pPr>
            <a:r>
              <a:rPr lang="en-US" sz="900" b="1" dirty="0">
                <a:solidFill>
                  <a:srgbClr val="FFFFFF"/>
                </a:solidFill>
                <a:latin typeface="Calibri" pitchFamily="34" charset="0"/>
                <a:ea typeface="Calibri" pitchFamily="34" charset="-122"/>
                <a:cs typeface="Calibri" pitchFamily="34" charset="-120"/>
              </a:rPr>
              <a:t>Features</a:t>
            </a:r>
            <a:endParaRPr lang="en-US" sz="900" dirty="0"/>
          </a:p>
        </p:txBody>
      </p:sp>
      <p:sp>
        <p:nvSpPr>
          <p:cNvPr id="24" name="Text 22"/>
          <p:cNvSpPr/>
          <p:nvPr/>
        </p:nvSpPr>
        <p:spPr>
          <a:xfrm>
            <a:off x="3813048" y="3401568"/>
            <a:ext cx="1463040" cy="731520"/>
          </a:xfrm>
          <a:prstGeom prst="rect">
            <a:avLst/>
          </a:prstGeom>
          <a:noFill/>
          <a:ln/>
        </p:spPr>
        <p:txBody>
          <a:bodyPr wrap="square" rtlCol="0" anchor="ctr"/>
          <a:lstStyle/>
          <a:p>
            <a:pPr algn="ctr" indent="0" marL="0">
              <a:lnSpc>
                <a:spcPct val="130000"/>
              </a:lnSpc>
              <a:buNone/>
            </a:pPr>
            <a:r>
              <a:rPr lang="en-US" sz="750" dirty="0">
                <a:solidFill>
                  <a:srgbClr val="A8C9C9"/>
                </a:solidFill>
                <a:latin typeface="Calibri" pitchFamily="34" charset="0"/>
                <a:ea typeface="Calibri" pitchFamily="34" charset="-122"/>
                <a:cs typeface="Calibri" pitchFamily="34" charset="-120"/>
              </a:rPr>
              <a:t>Hour/day cyclical</a:t>
            </a:r>
            <a:endParaRPr lang="en-US" sz="750" dirty="0"/>
          </a:p>
          <a:p>
            <a:pPr algn="ctr" indent="0" marL="0">
              <a:lnSpc>
                <a:spcPct val="130000"/>
              </a:lnSpc>
              <a:buNone/>
            </a:pPr>
            <a:r>
              <a:rPr lang="en-US" sz="750" dirty="0">
                <a:solidFill>
                  <a:srgbClr val="A8C9C9"/>
                </a:solidFill>
                <a:latin typeface="Calibri" pitchFamily="34" charset="0"/>
                <a:ea typeface="Calibri" pitchFamily="34" charset="-122"/>
                <a:cs typeface="Calibri" pitchFamily="34" charset="-120"/>
              </a:rPr>
              <a:t>encoding</a:t>
            </a:r>
            <a:endParaRPr lang="en-US" sz="750" dirty="0"/>
          </a:p>
        </p:txBody>
      </p:sp>
      <p:sp>
        <p:nvSpPr>
          <p:cNvPr id="25" name="Shape 23"/>
          <p:cNvSpPr/>
          <p:nvPr/>
        </p:nvSpPr>
        <p:spPr>
          <a:xfrm>
            <a:off x="5468112" y="2148840"/>
            <a:ext cx="1554480" cy="2514600"/>
          </a:xfrm>
          <a:prstGeom prst="roundRect">
            <a:avLst>
              <a:gd name="adj" fmla="val 7059"/>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26" name="Shape 24"/>
          <p:cNvSpPr/>
          <p:nvPr/>
        </p:nvSpPr>
        <p:spPr>
          <a:xfrm>
            <a:off x="5971032" y="2194560"/>
            <a:ext cx="548640" cy="548640"/>
          </a:xfrm>
          <a:prstGeom prst="ellipse">
            <a:avLst/>
          </a:prstGeom>
          <a:solidFill>
            <a:srgbClr val="00897B">
              <a:alpha val="40000"/>
            </a:srgbClr>
          </a:solidFill>
          <a:ln w="6350">
            <a:solidFill>
              <a:srgbClr val="00897B">
                <a:alpha val="60000"/>
              </a:srgbClr>
            </a:solidFill>
            <a:prstDash val="solid"/>
          </a:ln>
        </p:spPr>
      </p:sp>
      <p:sp>
        <p:nvSpPr>
          <p:cNvPr id="27" name="Text 25"/>
          <p:cNvSpPr/>
          <p:nvPr/>
        </p:nvSpPr>
        <p:spPr>
          <a:xfrm>
            <a:off x="5971032" y="2194560"/>
            <a:ext cx="54864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8" name="Text 26"/>
          <p:cNvSpPr/>
          <p:nvPr/>
        </p:nvSpPr>
        <p:spPr>
          <a:xfrm>
            <a:off x="5513832" y="2834640"/>
            <a:ext cx="1463040" cy="548640"/>
          </a:xfrm>
          <a:prstGeom prst="rect">
            <a:avLst/>
          </a:prstGeom>
          <a:noFill/>
          <a:ln/>
        </p:spPr>
        <p:txBody>
          <a:bodyPr wrap="square" rtlCol="0" anchor="ctr"/>
          <a:lstStyle/>
          <a:p>
            <a:pPr algn="ctr" indent="0" marL="0">
              <a:lnSpc>
                <a:spcPct val="120000"/>
              </a:lnSpc>
              <a:buNone/>
            </a:pPr>
            <a:r>
              <a:rPr lang="en-US" sz="900" b="1" dirty="0">
                <a:solidFill>
                  <a:srgbClr val="FFFFFF"/>
                </a:solidFill>
                <a:latin typeface="Calibri" pitchFamily="34" charset="0"/>
                <a:ea typeface="Calibri" pitchFamily="34" charset="-122"/>
                <a:cs typeface="Calibri" pitchFamily="34" charset="-120"/>
              </a:rPr>
              <a:t>Forecast</a:t>
            </a:r>
            <a:endParaRPr lang="en-US" sz="900" dirty="0"/>
          </a:p>
          <a:p>
            <a:pPr algn="ctr" indent="0" marL="0">
              <a:lnSpc>
                <a:spcPct val="120000"/>
              </a:lnSpc>
              <a:buNone/>
            </a:pPr>
            <a:r>
              <a:rPr lang="en-US" sz="900" b="1" dirty="0">
                <a:solidFill>
                  <a:srgbClr val="FFFFFF"/>
                </a:solidFill>
                <a:latin typeface="Calibri" pitchFamily="34" charset="0"/>
                <a:ea typeface="Calibri" pitchFamily="34" charset="-122"/>
                <a:cs typeface="Calibri" pitchFamily="34" charset="-120"/>
              </a:rPr>
              <a:t>Model</a:t>
            </a:r>
            <a:endParaRPr lang="en-US" sz="900" dirty="0"/>
          </a:p>
        </p:txBody>
      </p:sp>
      <p:sp>
        <p:nvSpPr>
          <p:cNvPr id="29" name="Text 27"/>
          <p:cNvSpPr/>
          <p:nvPr/>
        </p:nvSpPr>
        <p:spPr>
          <a:xfrm>
            <a:off x="5513832" y="3401568"/>
            <a:ext cx="1463040" cy="731520"/>
          </a:xfrm>
          <a:prstGeom prst="rect">
            <a:avLst/>
          </a:prstGeom>
          <a:noFill/>
          <a:ln/>
        </p:spPr>
        <p:txBody>
          <a:bodyPr wrap="square" rtlCol="0" anchor="ctr"/>
          <a:lstStyle/>
          <a:p>
            <a:pPr algn="ctr" indent="0" marL="0">
              <a:lnSpc>
                <a:spcPct val="130000"/>
              </a:lnSpc>
              <a:buNone/>
            </a:pPr>
            <a:r>
              <a:rPr lang="en-US" sz="750" dirty="0">
                <a:solidFill>
                  <a:srgbClr val="A8C9C9"/>
                </a:solidFill>
                <a:latin typeface="Calibri" pitchFamily="34" charset="0"/>
                <a:ea typeface="Calibri" pitchFamily="34" charset="-122"/>
                <a:cs typeface="Calibri" pitchFamily="34" charset="-120"/>
              </a:rPr>
              <a:t>Prophet/GBR with</a:t>
            </a:r>
            <a:endParaRPr lang="en-US" sz="750" dirty="0"/>
          </a:p>
          <a:p>
            <a:pPr algn="ctr" indent="0" marL="0">
              <a:lnSpc>
                <a:spcPct val="130000"/>
              </a:lnSpc>
              <a:buNone/>
            </a:pPr>
            <a:r>
              <a:rPr lang="en-US" sz="750" dirty="0">
                <a:solidFill>
                  <a:srgbClr val="A8C9C9"/>
                </a:solidFill>
                <a:latin typeface="Calibri" pitchFamily="34" charset="0"/>
                <a:ea typeface="Calibri" pitchFamily="34" charset="-122"/>
                <a:cs typeface="Calibri" pitchFamily="34" charset="-120"/>
              </a:rPr>
              <a:t>external regressors</a:t>
            </a:r>
            <a:endParaRPr lang="en-US" sz="750" dirty="0"/>
          </a:p>
        </p:txBody>
      </p:sp>
      <p:sp>
        <p:nvSpPr>
          <p:cNvPr id="30" name="Shape 28"/>
          <p:cNvSpPr/>
          <p:nvPr/>
        </p:nvSpPr>
        <p:spPr>
          <a:xfrm>
            <a:off x="7168896" y="2148840"/>
            <a:ext cx="1554480" cy="2514600"/>
          </a:xfrm>
          <a:prstGeom prst="roundRect">
            <a:avLst>
              <a:gd name="adj" fmla="val 7059"/>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31" name="Shape 29"/>
          <p:cNvSpPr/>
          <p:nvPr/>
        </p:nvSpPr>
        <p:spPr>
          <a:xfrm>
            <a:off x="7671816" y="2194560"/>
            <a:ext cx="548640" cy="548640"/>
          </a:xfrm>
          <a:prstGeom prst="ellipse">
            <a:avLst/>
          </a:prstGeom>
          <a:solidFill>
            <a:srgbClr val="00897B">
              <a:alpha val="40000"/>
            </a:srgbClr>
          </a:solidFill>
          <a:ln w="6350">
            <a:solidFill>
              <a:srgbClr val="00897B">
                <a:alpha val="60000"/>
              </a:srgbClr>
            </a:solidFill>
            <a:prstDash val="solid"/>
          </a:ln>
        </p:spPr>
      </p:sp>
      <p:sp>
        <p:nvSpPr>
          <p:cNvPr id="32" name="Text 30"/>
          <p:cNvSpPr/>
          <p:nvPr/>
        </p:nvSpPr>
        <p:spPr>
          <a:xfrm>
            <a:off x="7671816" y="2194560"/>
            <a:ext cx="54864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33" name="Text 31"/>
          <p:cNvSpPr/>
          <p:nvPr/>
        </p:nvSpPr>
        <p:spPr>
          <a:xfrm>
            <a:off x="7214616" y="2834640"/>
            <a:ext cx="1463040" cy="548640"/>
          </a:xfrm>
          <a:prstGeom prst="rect">
            <a:avLst/>
          </a:prstGeom>
          <a:noFill/>
          <a:ln/>
        </p:spPr>
        <p:txBody>
          <a:bodyPr wrap="square" rtlCol="0" anchor="ctr"/>
          <a:lstStyle/>
          <a:p>
            <a:pPr algn="ctr" indent="0" marL="0">
              <a:lnSpc>
                <a:spcPct val="120000"/>
              </a:lnSpc>
              <a:buNone/>
            </a:pPr>
            <a:r>
              <a:rPr lang="en-US" sz="900" b="1" dirty="0">
                <a:solidFill>
                  <a:srgbClr val="FFFFFF"/>
                </a:solidFill>
                <a:latin typeface="Calibri" pitchFamily="34" charset="0"/>
                <a:ea typeface="Calibri" pitchFamily="34" charset="-122"/>
                <a:cs typeface="Calibri" pitchFamily="34" charset="-120"/>
              </a:rPr>
              <a:t>Optimize</a:t>
            </a:r>
            <a:endParaRPr lang="en-US" sz="900" dirty="0"/>
          </a:p>
          <a:p>
            <a:pPr algn="ctr" indent="0" marL="0">
              <a:lnSpc>
                <a:spcPct val="120000"/>
              </a:lnSpc>
              <a:buNone/>
            </a:pPr>
            <a:r>
              <a:rPr lang="en-US" sz="900" b="1" dirty="0">
                <a:solidFill>
                  <a:srgbClr val="FFFFFF"/>
                </a:solidFill>
                <a:latin typeface="Calibri" pitchFamily="34" charset="0"/>
                <a:ea typeface="Calibri" pitchFamily="34" charset="-122"/>
                <a:cs typeface="Calibri" pitchFamily="34" charset="-120"/>
              </a:rPr>
              <a:t>Capacity</a:t>
            </a:r>
            <a:endParaRPr lang="en-US" sz="900" dirty="0"/>
          </a:p>
        </p:txBody>
      </p:sp>
      <p:sp>
        <p:nvSpPr>
          <p:cNvPr id="34" name="Text 32"/>
          <p:cNvSpPr/>
          <p:nvPr/>
        </p:nvSpPr>
        <p:spPr>
          <a:xfrm>
            <a:off x="7214616" y="3401568"/>
            <a:ext cx="1463040" cy="731520"/>
          </a:xfrm>
          <a:prstGeom prst="rect">
            <a:avLst/>
          </a:prstGeom>
          <a:noFill/>
          <a:ln/>
        </p:spPr>
        <p:txBody>
          <a:bodyPr wrap="square" rtlCol="0" anchor="ctr"/>
          <a:lstStyle/>
          <a:p>
            <a:pPr algn="ctr" indent="0" marL="0">
              <a:lnSpc>
                <a:spcPct val="130000"/>
              </a:lnSpc>
              <a:buNone/>
            </a:pPr>
            <a:r>
              <a:rPr lang="en-US" sz="750" dirty="0">
                <a:solidFill>
                  <a:srgbClr val="A8C9C9"/>
                </a:solidFill>
                <a:latin typeface="Calibri" pitchFamily="34" charset="0"/>
                <a:ea typeface="Calibri" pitchFamily="34" charset="-122"/>
                <a:cs typeface="Calibri" pitchFamily="34" charset="-120"/>
              </a:rPr>
              <a:t>Peak/off-peak</a:t>
            </a:r>
            <a:endParaRPr lang="en-US" sz="750" dirty="0"/>
          </a:p>
          <a:p>
            <a:pPr algn="ctr" indent="0" marL="0">
              <a:lnSpc>
                <a:spcPct val="130000"/>
              </a:lnSpc>
              <a:buNone/>
            </a:pPr>
            <a:r>
              <a:rPr lang="en-US" sz="750" dirty="0">
                <a:solidFill>
                  <a:srgbClr val="A8C9C9"/>
                </a:solidFill>
                <a:latin typeface="Calibri" pitchFamily="34" charset="0"/>
                <a:ea typeface="Calibri" pitchFamily="34" charset="-122"/>
                <a:cs typeface="Calibri" pitchFamily="34" charset="-120"/>
              </a:rPr>
              <a:t>strategy</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F1F"/>
          </a:solidFill>
          <a:ln w="12700">
            <a:solidFill>
              <a:srgbClr val="0A1F1F"/>
            </a:solidFill>
            <a:prstDash val="solid"/>
          </a:ln>
        </p:spPr>
      </p:sp>
      <p:sp>
        <p:nvSpPr>
          <p:cNvPr id="3" name="Shape 1"/>
          <p:cNvSpPr/>
          <p:nvPr/>
        </p:nvSpPr>
        <p:spPr>
          <a:xfrm>
            <a:off x="-1371600" y="-914400"/>
            <a:ext cx="4572000" cy="4572000"/>
          </a:xfrm>
          <a:prstGeom prst="ellipse">
            <a:avLst/>
          </a:prstGeom>
          <a:solidFill>
            <a:srgbClr val="00897B">
              <a:alpha val="12000"/>
            </a:srgbClr>
          </a:solidFill>
          <a:ln w="12700">
            <a:solidFill>
              <a:srgbClr val="00897B">
                <a:alpha val="12000"/>
              </a:srgbClr>
            </a:solidFill>
            <a:prstDash val="solid"/>
          </a:ln>
        </p:spPr>
      </p:sp>
      <p:sp>
        <p:nvSpPr>
          <p:cNvPr id="4" name="Shape 2"/>
          <p:cNvSpPr/>
          <p:nvPr/>
        </p:nvSpPr>
        <p:spPr>
          <a:xfrm>
            <a:off x="6400800" y="1828800"/>
            <a:ext cx="3657600" cy="3657600"/>
          </a:xfrm>
          <a:prstGeom prst="ellipse">
            <a:avLst/>
          </a:prstGeom>
          <a:solidFill>
            <a:srgbClr val="1E88E5">
              <a:alpha val="10000"/>
            </a:srgbClr>
          </a:solidFill>
          <a:ln w="12700">
            <a:solidFill>
              <a:srgbClr val="1E88E5">
                <a:alpha val="10000"/>
              </a:srgbClr>
            </a:solidFill>
            <a:prstDash val="solid"/>
          </a:ln>
        </p:spPr>
      </p:sp>
      <p:sp>
        <p:nvSpPr>
          <p:cNvPr id="5" name="Text 3"/>
          <p:cNvSpPr/>
          <p:nvPr/>
        </p:nvSpPr>
        <p:spPr>
          <a:xfrm>
            <a:off x="457200" y="256032"/>
            <a:ext cx="5486400" cy="201168"/>
          </a:xfrm>
          <a:prstGeom prst="rect">
            <a:avLst/>
          </a:prstGeom>
          <a:noFill/>
          <a:ln/>
        </p:spPr>
        <p:txBody>
          <a:bodyPr wrap="square" rtlCol="0" anchor="ctr"/>
          <a:lstStyle/>
          <a:p>
            <a:pPr indent="0" marL="0">
              <a:buNone/>
            </a:pPr>
            <a:r>
              <a:rPr lang="en-US" sz="700" b="1" spc="200" kern="0" dirty="0">
                <a:solidFill>
                  <a:srgbClr val="1E88E5"/>
                </a:solidFill>
                <a:latin typeface="Calibri" pitchFamily="34" charset="0"/>
                <a:ea typeface="Calibri" pitchFamily="34" charset="-122"/>
                <a:cs typeface="Calibri" pitchFamily="34" charset="-120"/>
              </a:rPr>
              <a:t>EXPLORATORY ANALYSIS</a:t>
            </a:r>
            <a:endParaRPr lang="en-US" sz="700" dirty="0"/>
          </a:p>
        </p:txBody>
      </p:sp>
      <p:sp>
        <p:nvSpPr>
          <p:cNvPr id="6" name="Text 4"/>
          <p:cNvSpPr/>
          <p:nvPr/>
        </p:nvSpPr>
        <p:spPr>
          <a:xfrm>
            <a:off x="457200" y="41148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Demand Patterns Discovered</a:t>
            </a:r>
            <a:endParaRPr lang="en-US" sz="2200" dirty="0"/>
          </a:p>
        </p:txBody>
      </p:sp>
      <p:sp>
        <p:nvSpPr>
          <p:cNvPr id="7" name="Shape 5"/>
          <p:cNvSpPr/>
          <p:nvPr/>
        </p:nvSpPr>
        <p:spPr>
          <a:xfrm>
            <a:off x="457200" y="1005840"/>
            <a:ext cx="4023360" cy="3611880"/>
          </a:xfrm>
          <a:prstGeom prst="roundRect">
            <a:avLst>
              <a:gd name="adj" fmla="val 3038"/>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pic>
        <p:nvPicPr>
          <p:cNvPr id="8" name="Image 0" descr="/home/claude/ev_project/plot_hourly_pattern.png">    </p:cNvPr>
          <p:cNvPicPr>
            <a:picLocks noChangeAspect="1"/>
          </p:cNvPicPr>
          <p:nvPr/>
        </p:nvPicPr>
        <p:blipFill>
          <a:blip r:embed="rId1"/>
          <a:stretch>
            <a:fillRect/>
          </a:stretch>
        </p:blipFill>
        <p:spPr>
          <a:xfrm>
            <a:off x="594360" y="1143000"/>
            <a:ext cx="3749040" cy="1554480"/>
          </a:xfrm>
          <a:prstGeom prst="rect">
            <a:avLst/>
          </a:prstGeom>
        </p:spPr>
      </p:pic>
      <p:pic>
        <p:nvPicPr>
          <p:cNvPr id="9" name="Image 1" descr="/home/claude/ev_project/plot_weekday_weekend.png">    </p:cNvPr>
          <p:cNvPicPr>
            <a:picLocks noChangeAspect="1"/>
          </p:cNvPicPr>
          <p:nvPr/>
        </p:nvPicPr>
        <p:blipFill>
          <a:blip r:embed="rId2"/>
          <a:stretch>
            <a:fillRect/>
          </a:stretch>
        </p:blipFill>
        <p:spPr>
          <a:xfrm>
            <a:off x="594360" y="2788920"/>
            <a:ext cx="3749040" cy="1691640"/>
          </a:xfrm>
          <a:prstGeom prst="rect">
            <a:avLst/>
          </a:prstGeom>
        </p:spPr>
      </p:pic>
      <p:sp>
        <p:nvSpPr>
          <p:cNvPr id="10" name="Shape 6"/>
          <p:cNvSpPr/>
          <p:nvPr/>
        </p:nvSpPr>
        <p:spPr>
          <a:xfrm>
            <a:off x="4663440" y="1005840"/>
            <a:ext cx="4023360" cy="3611880"/>
          </a:xfrm>
          <a:prstGeom prst="roundRect">
            <a:avLst>
              <a:gd name="adj" fmla="val 3038"/>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pic>
        <p:nvPicPr>
          <p:cNvPr id="11" name="Image 2" descr="/home/claude/ev_project/plot_demand_heatmap.png">    </p:cNvPr>
          <p:cNvPicPr>
            <a:picLocks noChangeAspect="1"/>
          </p:cNvPicPr>
          <p:nvPr/>
        </p:nvPicPr>
        <p:blipFill>
          <a:blip r:embed="rId3"/>
          <a:stretch>
            <a:fillRect/>
          </a:stretch>
        </p:blipFill>
        <p:spPr>
          <a:xfrm>
            <a:off x="4800600" y="1143000"/>
            <a:ext cx="3749040" cy="1554480"/>
          </a:xfrm>
          <a:prstGeom prst="rect">
            <a:avLst/>
          </a:prstGeom>
        </p:spPr>
      </p:pic>
      <p:pic>
        <p:nvPicPr>
          <p:cNvPr id="12" name="Image 3" descr="/home/claude/ev_project/plot_correlation.png">    </p:cNvPr>
          <p:cNvPicPr>
            <a:picLocks noChangeAspect="1"/>
          </p:cNvPicPr>
          <p:nvPr/>
        </p:nvPicPr>
        <p:blipFill>
          <a:blip r:embed="rId4"/>
          <a:stretch>
            <a:fillRect/>
          </a:stretch>
        </p:blipFill>
        <p:spPr>
          <a:xfrm>
            <a:off x="5074920" y="2788920"/>
            <a:ext cx="3200400" cy="1691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F1F"/>
          </a:solidFill>
          <a:ln w="12700">
            <a:solidFill>
              <a:srgbClr val="0A1F1F"/>
            </a:solidFill>
            <a:prstDash val="solid"/>
          </a:ln>
        </p:spPr>
      </p:sp>
      <p:sp>
        <p:nvSpPr>
          <p:cNvPr id="3" name="Shape 1"/>
          <p:cNvSpPr/>
          <p:nvPr/>
        </p:nvSpPr>
        <p:spPr>
          <a:xfrm>
            <a:off x="-1371600" y="-914400"/>
            <a:ext cx="4572000" cy="4572000"/>
          </a:xfrm>
          <a:prstGeom prst="ellipse">
            <a:avLst/>
          </a:prstGeom>
          <a:solidFill>
            <a:srgbClr val="00897B">
              <a:alpha val="12000"/>
            </a:srgbClr>
          </a:solidFill>
          <a:ln w="12700">
            <a:solidFill>
              <a:srgbClr val="00897B">
                <a:alpha val="12000"/>
              </a:srgbClr>
            </a:solidFill>
            <a:prstDash val="solid"/>
          </a:ln>
        </p:spPr>
      </p:sp>
      <p:sp>
        <p:nvSpPr>
          <p:cNvPr id="4" name="Shape 2"/>
          <p:cNvSpPr/>
          <p:nvPr/>
        </p:nvSpPr>
        <p:spPr>
          <a:xfrm>
            <a:off x="6400800" y="1828800"/>
            <a:ext cx="3657600" cy="3657600"/>
          </a:xfrm>
          <a:prstGeom prst="ellipse">
            <a:avLst/>
          </a:prstGeom>
          <a:solidFill>
            <a:srgbClr val="1E88E5">
              <a:alpha val="10000"/>
            </a:srgbClr>
          </a:solidFill>
          <a:ln w="12700">
            <a:solidFill>
              <a:srgbClr val="1E88E5">
                <a:alpha val="10000"/>
              </a:srgbClr>
            </a:solidFill>
            <a:prstDash val="solid"/>
          </a:ln>
        </p:spPr>
      </p:sp>
      <p:sp>
        <p:nvSpPr>
          <p:cNvPr id="5" name="Text 3"/>
          <p:cNvSpPr/>
          <p:nvPr/>
        </p:nvSpPr>
        <p:spPr>
          <a:xfrm>
            <a:off x="457200" y="256032"/>
            <a:ext cx="5486400" cy="201168"/>
          </a:xfrm>
          <a:prstGeom prst="rect">
            <a:avLst/>
          </a:prstGeom>
          <a:noFill/>
          <a:ln/>
        </p:spPr>
        <p:txBody>
          <a:bodyPr wrap="square" rtlCol="0" anchor="ctr"/>
          <a:lstStyle/>
          <a:p>
            <a:pPr indent="0" marL="0">
              <a:buNone/>
            </a:pPr>
            <a:r>
              <a:rPr lang="en-US" sz="700" b="1" spc="200" kern="0" dirty="0">
                <a:solidFill>
                  <a:srgbClr val="1E88E5"/>
                </a:solidFill>
                <a:latin typeface="Calibri" pitchFamily="34" charset="0"/>
                <a:ea typeface="Calibri" pitchFamily="34" charset="-122"/>
                <a:cs typeface="Calibri" pitchFamily="34" charset="-120"/>
              </a:rPr>
              <a:t>MODEL VALIDATION</a:t>
            </a:r>
            <a:endParaRPr lang="en-US" sz="700" dirty="0"/>
          </a:p>
        </p:txBody>
      </p:sp>
      <p:sp>
        <p:nvSpPr>
          <p:cNvPr id="6" name="Text 4"/>
          <p:cNvSpPr/>
          <p:nvPr/>
        </p:nvSpPr>
        <p:spPr>
          <a:xfrm>
            <a:off x="457200" y="41148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Forecasting Model — Results</a:t>
            </a:r>
            <a:endParaRPr lang="en-US" sz="2200" dirty="0"/>
          </a:p>
        </p:txBody>
      </p:sp>
      <p:sp>
        <p:nvSpPr>
          <p:cNvPr id="7" name="Shape 5"/>
          <p:cNvSpPr/>
          <p:nvPr/>
        </p:nvSpPr>
        <p:spPr>
          <a:xfrm>
            <a:off x="457200" y="1005840"/>
            <a:ext cx="2606040" cy="1737360"/>
          </a:xfrm>
          <a:prstGeom prst="roundRect">
            <a:avLst>
              <a:gd name="adj" fmla="val 6316"/>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8" name="Text 6"/>
          <p:cNvSpPr/>
          <p:nvPr/>
        </p:nvSpPr>
        <p:spPr>
          <a:xfrm>
            <a:off x="594360" y="1069848"/>
            <a:ext cx="2331720" cy="274320"/>
          </a:xfrm>
          <a:prstGeom prst="rect">
            <a:avLst/>
          </a:prstGeom>
          <a:noFill/>
          <a:ln/>
        </p:spPr>
        <p:txBody>
          <a:bodyPr wrap="square" rtlCol="0" anchor="ctr"/>
          <a:lstStyle/>
          <a:p>
            <a:pPr algn="ctr" indent="0" marL="0">
              <a:buNone/>
            </a:pPr>
            <a:r>
              <a:rPr lang="en-US" sz="900" b="1" spc="150" kern="0" dirty="0">
                <a:solidFill>
                  <a:srgbClr val="A8C9C9"/>
                </a:solidFill>
                <a:latin typeface="Calibri" pitchFamily="34" charset="0"/>
                <a:ea typeface="Calibri" pitchFamily="34" charset="-122"/>
                <a:cs typeface="Calibri" pitchFamily="34" charset="-120"/>
              </a:rPr>
              <a:t>MAE</a:t>
            </a:r>
            <a:endParaRPr lang="en-US" sz="900" dirty="0"/>
          </a:p>
        </p:txBody>
      </p:sp>
      <p:sp>
        <p:nvSpPr>
          <p:cNvPr id="9" name="Text 7"/>
          <p:cNvSpPr/>
          <p:nvPr/>
        </p:nvSpPr>
        <p:spPr>
          <a:xfrm>
            <a:off x="548640" y="1353312"/>
            <a:ext cx="2423160" cy="594360"/>
          </a:xfrm>
          <a:prstGeom prst="rect">
            <a:avLst/>
          </a:prstGeom>
          <a:noFill/>
          <a:ln/>
        </p:spPr>
        <p:txBody>
          <a:bodyPr wrap="square" rtlCol="0" anchor="ctr"/>
          <a:lstStyle/>
          <a:p>
            <a:pPr algn="ctr" indent="0" marL="0">
              <a:buNone/>
            </a:pPr>
            <a:r>
              <a:rPr lang="en-US" sz="2400" b="1" dirty="0">
                <a:solidFill>
                  <a:srgbClr val="00E396"/>
                </a:solidFill>
                <a:latin typeface="Calibri" pitchFamily="34" charset="0"/>
                <a:ea typeface="Calibri" pitchFamily="34" charset="-122"/>
                <a:cs typeface="Calibri" pitchFamily="34" charset="-120"/>
              </a:rPr>
              <a:t>3.51 kWh</a:t>
            </a:r>
            <a:endParaRPr lang="en-US" sz="2400" dirty="0"/>
          </a:p>
        </p:txBody>
      </p:sp>
      <p:sp>
        <p:nvSpPr>
          <p:cNvPr id="10" name="Text 8"/>
          <p:cNvSpPr/>
          <p:nvPr/>
        </p:nvSpPr>
        <p:spPr>
          <a:xfrm>
            <a:off x="566928" y="1956816"/>
            <a:ext cx="2377440" cy="502920"/>
          </a:xfrm>
          <a:prstGeom prst="rect">
            <a:avLst/>
          </a:prstGeom>
          <a:noFill/>
          <a:ln/>
        </p:spPr>
        <p:txBody>
          <a:bodyPr wrap="square" rtlCol="0" anchor="ctr"/>
          <a:lstStyle/>
          <a:p>
            <a:pPr algn="ctr" indent="0" marL="0">
              <a:lnSpc>
                <a:spcPct val="135000"/>
              </a:lnSpc>
              <a:buNone/>
            </a:pPr>
            <a:r>
              <a:rPr lang="en-US" sz="750" dirty="0">
                <a:solidFill>
                  <a:srgbClr val="A8C9C9"/>
                </a:solidFill>
                <a:latin typeface="Calibri" pitchFamily="34" charset="0"/>
                <a:ea typeface="Calibri" pitchFamily="34" charset="-122"/>
                <a:cs typeface="Calibri" pitchFamily="34" charset="-120"/>
              </a:rPr>
              <a:t>Mean Absolute Error</a:t>
            </a:r>
            <a:endParaRPr lang="en-US" sz="750" dirty="0"/>
          </a:p>
          <a:p>
            <a:pPr algn="ctr" indent="0" marL="0">
              <a:lnSpc>
                <a:spcPct val="135000"/>
              </a:lnSpc>
              <a:buNone/>
            </a:pPr>
            <a:r>
              <a:rPr lang="en-US" sz="750" dirty="0">
                <a:solidFill>
                  <a:srgbClr val="A8C9C9"/>
                </a:solidFill>
                <a:latin typeface="Calibri" pitchFamily="34" charset="0"/>
                <a:ea typeface="Calibri" pitchFamily="34" charset="-122"/>
                <a:cs typeface="Calibri" pitchFamily="34" charset="-120"/>
              </a:rPr>
              <a:t>per hour</a:t>
            </a:r>
            <a:endParaRPr lang="en-US" sz="750" dirty="0"/>
          </a:p>
        </p:txBody>
      </p:sp>
      <p:sp>
        <p:nvSpPr>
          <p:cNvPr id="11" name="Shape 9"/>
          <p:cNvSpPr/>
          <p:nvPr/>
        </p:nvSpPr>
        <p:spPr>
          <a:xfrm>
            <a:off x="3346704" y="1005840"/>
            <a:ext cx="2606040" cy="1737360"/>
          </a:xfrm>
          <a:prstGeom prst="roundRect">
            <a:avLst>
              <a:gd name="adj" fmla="val 6316"/>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12" name="Text 10"/>
          <p:cNvSpPr/>
          <p:nvPr/>
        </p:nvSpPr>
        <p:spPr>
          <a:xfrm>
            <a:off x="3483864" y="1069848"/>
            <a:ext cx="2331720" cy="274320"/>
          </a:xfrm>
          <a:prstGeom prst="rect">
            <a:avLst/>
          </a:prstGeom>
          <a:noFill/>
          <a:ln/>
        </p:spPr>
        <p:txBody>
          <a:bodyPr wrap="square" rtlCol="0" anchor="ctr"/>
          <a:lstStyle/>
          <a:p>
            <a:pPr algn="ctr" indent="0" marL="0">
              <a:buNone/>
            </a:pPr>
            <a:r>
              <a:rPr lang="en-US" sz="900" b="1" spc="150" kern="0" dirty="0">
                <a:solidFill>
                  <a:srgbClr val="A8C9C9"/>
                </a:solidFill>
                <a:latin typeface="Calibri" pitchFamily="34" charset="0"/>
                <a:ea typeface="Calibri" pitchFamily="34" charset="-122"/>
                <a:cs typeface="Calibri" pitchFamily="34" charset="-120"/>
              </a:rPr>
              <a:t>RMSE</a:t>
            </a:r>
            <a:endParaRPr lang="en-US" sz="900" dirty="0"/>
          </a:p>
        </p:txBody>
      </p:sp>
      <p:sp>
        <p:nvSpPr>
          <p:cNvPr id="13" name="Text 11"/>
          <p:cNvSpPr/>
          <p:nvPr/>
        </p:nvSpPr>
        <p:spPr>
          <a:xfrm>
            <a:off x="3438144" y="1353312"/>
            <a:ext cx="2423160" cy="594360"/>
          </a:xfrm>
          <a:prstGeom prst="rect">
            <a:avLst/>
          </a:prstGeom>
          <a:noFill/>
          <a:ln/>
        </p:spPr>
        <p:txBody>
          <a:bodyPr wrap="square" rtlCol="0" anchor="ctr"/>
          <a:lstStyle/>
          <a:p>
            <a:pPr algn="ctr" indent="0" marL="0">
              <a:buNone/>
            </a:pPr>
            <a:r>
              <a:rPr lang="en-US" sz="2400" b="1" dirty="0">
                <a:solidFill>
                  <a:srgbClr val="1E88E5"/>
                </a:solidFill>
                <a:latin typeface="Calibri" pitchFamily="34" charset="0"/>
                <a:ea typeface="Calibri" pitchFamily="34" charset="-122"/>
                <a:cs typeface="Calibri" pitchFamily="34" charset="-120"/>
              </a:rPr>
              <a:t>4.36 kWh</a:t>
            </a:r>
            <a:endParaRPr lang="en-US" sz="2400" dirty="0"/>
          </a:p>
        </p:txBody>
      </p:sp>
      <p:sp>
        <p:nvSpPr>
          <p:cNvPr id="14" name="Text 12"/>
          <p:cNvSpPr/>
          <p:nvPr/>
        </p:nvSpPr>
        <p:spPr>
          <a:xfrm>
            <a:off x="3456432" y="1956816"/>
            <a:ext cx="2377440" cy="502920"/>
          </a:xfrm>
          <a:prstGeom prst="rect">
            <a:avLst/>
          </a:prstGeom>
          <a:noFill/>
          <a:ln/>
        </p:spPr>
        <p:txBody>
          <a:bodyPr wrap="square" rtlCol="0" anchor="ctr"/>
          <a:lstStyle/>
          <a:p>
            <a:pPr algn="ctr" indent="0" marL="0">
              <a:lnSpc>
                <a:spcPct val="135000"/>
              </a:lnSpc>
              <a:buNone/>
            </a:pPr>
            <a:r>
              <a:rPr lang="en-US" sz="750" dirty="0">
                <a:solidFill>
                  <a:srgbClr val="A8C9C9"/>
                </a:solidFill>
                <a:latin typeface="Calibri" pitchFamily="34" charset="0"/>
                <a:ea typeface="Calibri" pitchFamily="34" charset="-122"/>
                <a:cs typeface="Calibri" pitchFamily="34" charset="-120"/>
              </a:rPr>
              <a:t>Root Mean Squared</a:t>
            </a:r>
            <a:endParaRPr lang="en-US" sz="750" dirty="0"/>
          </a:p>
          <a:p>
            <a:pPr algn="ctr" indent="0" marL="0">
              <a:lnSpc>
                <a:spcPct val="135000"/>
              </a:lnSpc>
              <a:buNone/>
            </a:pPr>
            <a:r>
              <a:rPr lang="en-US" sz="750" dirty="0">
                <a:solidFill>
                  <a:srgbClr val="A8C9C9"/>
                </a:solidFill>
                <a:latin typeface="Calibri" pitchFamily="34" charset="0"/>
                <a:ea typeface="Calibri" pitchFamily="34" charset="-122"/>
                <a:cs typeface="Calibri" pitchFamily="34" charset="-120"/>
              </a:rPr>
              <a:t>Error</a:t>
            </a:r>
            <a:endParaRPr lang="en-US" sz="750" dirty="0"/>
          </a:p>
        </p:txBody>
      </p:sp>
      <p:sp>
        <p:nvSpPr>
          <p:cNvPr id="15" name="Shape 13"/>
          <p:cNvSpPr/>
          <p:nvPr/>
        </p:nvSpPr>
        <p:spPr>
          <a:xfrm>
            <a:off x="6236208" y="1005840"/>
            <a:ext cx="2606040" cy="1737360"/>
          </a:xfrm>
          <a:prstGeom prst="roundRect">
            <a:avLst>
              <a:gd name="adj" fmla="val 6316"/>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16" name="Text 14"/>
          <p:cNvSpPr/>
          <p:nvPr/>
        </p:nvSpPr>
        <p:spPr>
          <a:xfrm>
            <a:off x="6373368" y="1069848"/>
            <a:ext cx="2331720" cy="274320"/>
          </a:xfrm>
          <a:prstGeom prst="rect">
            <a:avLst/>
          </a:prstGeom>
          <a:noFill/>
          <a:ln/>
        </p:spPr>
        <p:txBody>
          <a:bodyPr wrap="square" rtlCol="0" anchor="ctr"/>
          <a:lstStyle/>
          <a:p>
            <a:pPr algn="ctr" indent="0" marL="0">
              <a:buNone/>
            </a:pPr>
            <a:r>
              <a:rPr lang="en-US" sz="900" b="1" spc="150" kern="0" dirty="0">
                <a:solidFill>
                  <a:srgbClr val="A8C9C9"/>
                </a:solidFill>
                <a:latin typeface="Calibri" pitchFamily="34" charset="0"/>
                <a:ea typeface="Calibri" pitchFamily="34" charset="-122"/>
                <a:cs typeface="Calibri" pitchFamily="34" charset="-120"/>
              </a:rPr>
              <a:t>MAPE</a:t>
            </a:r>
            <a:endParaRPr lang="en-US" sz="900" dirty="0"/>
          </a:p>
        </p:txBody>
      </p:sp>
      <p:sp>
        <p:nvSpPr>
          <p:cNvPr id="17" name="Text 15"/>
          <p:cNvSpPr/>
          <p:nvPr/>
        </p:nvSpPr>
        <p:spPr>
          <a:xfrm>
            <a:off x="6327648" y="1353312"/>
            <a:ext cx="2423160" cy="594360"/>
          </a:xfrm>
          <a:prstGeom prst="rect">
            <a:avLst/>
          </a:prstGeom>
          <a:noFill/>
          <a:ln/>
        </p:spPr>
        <p:txBody>
          <a:bodyPr wrap="square" rtlCol="0" anchor="ctr"/>
          <a:lstStyle/>
          <a:p>
            <a:pPr algn="ctr" indent="0" marL="0">
              <a:buNone/>
            </a:pPr>
            <a:r>
              <a:rPr lang="en-US" sz="2400" b="1" dirty="0">
                <a:solidFill>
                  <a:srgbClr val="FFD54F"/>
                </a:solidFill>
                <a:latin typeface="Calibri" pitchFamily="34" charset="0"/>
                <a:ea typeface="Calibri" pitchFamily="34" charset="-122"/>
                <a:cs typeface="Calibri" pitchFamily="34" charset="-120"/>
              </a:rPr>
              <a:t>13.9%</a:t>
            </a:r>
            <a:endParaRPr lang="en-US" sz="2400" dirty="0"/>
          </a:p>
        </p:txBody>
      </p:sp>
      <p:sp>
        <p:nvSpPr>
          <p:cNvPr id="18" name="Text 16"/>
          <p:cNvSpPr/>
          <p:nvPr/>
        </p:nvSpPr>
        <p:spPr>
          <a:xfrm>
            <a:off x="6345936" y="1956816"/>
            <a:ext cx="2377440" cy="502920"/>
          </a:xfrm>
          <a:prstGeom prst="rect">
            <a:avLst/>
          </a:prstGeom>
          <a:noFill/>
          <a:ln/>
        </p:spPr>
        <p:txBody>
          <a:bodyPr wrap="square" rtlCol="0" anchor="ctr"/>
          <a:lstStyle/>
          <a:p>
            <a:pPr algn="ctr" indent="0" marL="0">
              <a:lnSpc>
                <a:spcPct val="135000"/>
              </a:lnSpc>
              <a:buNone/>
            </a:pPr>
            <a:r>
              <a:rPr lang="en-US" sz="750" dirty="0">
                <a:solidFill>
                  <a:srgbClr val="A8C9C9"/>
                </a:solidFill>
                <a:latin typeface="Calibri" pitchFamily="34" charset="0"/>
                <a:ea typeface="Calibri" pitchFamily="34" charset="-122"/>
                <a:cs typeface="Calibri" pitchFamily="34" charset="-120"/>
              </a:rPr>
              <a:t>Mean Absolute</a:t>
            </a:r>
            <a:endParaRPr lang="en-US" sz="750" dirty="0"/>
          </a:p>
          <a:p>
            <a:pPr algn="ctr" indent="0" marL="0">
              <a:lnSpc>
                <a:spcPct val="135000"/>
              </a:lnSpc>
              <a:buNone/>
            </a:pPr>
            <a:r>
              <a:rPr lang="en-US" sz="750" dirty="0">
                <a:solidFill>
                  <a:srgbClr val="A8C9C9"/>
                </a:solidFill>
                <a:latin typeface="Calibri" pitchFamily="34" charset="0"/>
                <a:ea typeface="Calibri" pitchFamily="34" charset="-122"/>
                <a:cs typeface="Calibri" pitchFamily="34" charset="-120"/>
              </a:rPr>
              <a:t>Percentage Error</a:t>
            </a:r>
            <a:endParaRPr lang="en-US" sz="750" dirty="0"/>
          </a:p>
        </p:txBody>
      </p:sp>
      <p:sp>
        <p:nvSpPr>
          <p:cNvPr id="19" name="Shape 17"/>
          <p:cNvSpPr/>
          <p:nvPr/>
        </p:nvSpPr>
        <p:spPr>
          <a:xfrm>
            <a:off x="457200" y="2880360"/>
            <a:ext cx="8229600" cy="1965960"/>
          </a:xfrm>
          <a:prstGeom prst="roundRect">
            <a:avLst>
              <a:gd name="adj" fmla="val 5581"/>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20" name="Text 18"/>
          <p:cNvSpPr/>
          <p:nvPr/>
        </p:nvSpPr>
        <p:spPr>
          <a:xfrm>
            <a:off x="640080" y="2926080"/>
            <a:ext cx="5486400" cy="201168"/>
          </a:xfrm>
          <a:prstGeom prst="rect">
            <a:avLst/>
          </a:prstGeom>
          <a:noFill/>
          <a:ln/>
        </p:spPr>
        <p:txBody>
          <a:bodyPr wrap="square" rtlCol="0" anchor="ctr"/>
          <a:lstStyle/>
          <a:p>
            <a:pPr indent="0" marL="0">
              <a:buNone/>
            </a:pPr>
            <a:r>
              <a:rPr lang="en-US" sz="700" b="1" spc="100" kern="0" dirty="0">
                <a:solidFill>
                  <a:srgbClr val="1E88E5"/>
                </a:solidFill>
                <a:latin typeface="Calibri" pitchFamily="34" charset="0"/>
                <a:ea typeface="Calibri" pitchFamily="34" charset="-122"/>
                <a:cs typeface="Calibri" pitchFamily="34" charset="-120"/>
              </a:rPr>
              <a:t>FORECAST vs ACTUAL — LAST 30 DAYS</a:t>
            </a:r>
            <a:endParaRPr lang="en-US" sz="700" dirty="0"/>
          </a:p>
        </p:txBody>
      </p:sp>
      <p:pic>
        <p:nvPicPr>
          <p:cNvPr id="21" name="Image 0" descr="/home/claude/ev_project/plot_forecast_vs_actual.png">    </p:cNvPr>
          <p:cNvPicPr>
            <a:picLocks noChangeAspect="1"/>
          </p:cNvPicPr>
          <p:nvPr/>
        </p:nvPicPr>
        <p:blipFill>
          <a:blip r:embed="rId1"/>
          <a:stretch>
            <a:fillRect/>
          </a:stretch>
        </p:blipFill>
        <p:spPr>
          <a:xfrm>
            <a:off x="594360" y="3127248"/>
            <a:ext cx="7955280" cy="16276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F1F"/>
          </a:solidFill>
          <a:ln w="12700">
            <a:solidFill>
              <a:srgbClr val="0A1F1F"/>
            </a:solidFill>
            <a:prstDash val="solid"/>
          </a:ln>
        </p:spPr>
      </p:sp>
      <p:sp>
        <p:nvSpPr>
          <p:cNvPr id="3" name="Shape 1"/>
          <p:cNvSpPr/>
          <p:nvPr/>
        </p:nvSpPr>
        <p:spPr>
          <a:xfrm>
            <a:off x="-1371600" y="-914400"/>
            <a:ext cx="4572000" cy="4572000"/>
          </a:xfrm>
          <a:prstGeom prst="ellipse">
            <a:avLst/>
          </a:prstGeom>
          <a:solidFill>
            <a:srgbClr val="00897B">
              <a:alpha val="12000"/>
            </a:srgbClr>
          </a:solidFill>
          <a:ln w="12700">
            <a:solidFill>
              <a:srgbClr val="00897B">
                <a:alpha val="12000"/>
              </a:srgbClr>
            </a:solidFill>
            <a:prstDash val="solid"/>
          </a:ln>
        </p:spPr>
      </p:sp>
      <p:sp>
        <p:nvSpPr>
          <p:cNvPr id="4" name="Shape 2"/>
          <p:cNvSpPr/>
          <p:nvPr/>
        </p:nvSpPr>
        <p:spPr>
          <a:xfrm>
            <a:off x="6400800" y="1828800"/>
            <a:ext cx="3657600" cy="3657600"/>
          </a:xfrm>
          <a:prstGeom prst="ellipse">
            <a:avLst/>
          </a:prstGeom>
          <a:solidFill>
            <a:srgbClr val="1E88E5">
              <a:alpha val="10000"/>
            </a:srgbClr>
          </a:solidFill>
          <a:ln w="12700">
            <a:solidFill>
              <a:srgbClr val="1E88E5">
                <a:alpha val="10000"/>
              </a:srgbClr>
            </a:solidFill>
            <a:prstDash val="solid"/>
          </a:ln>
        </p:spPr>
      </p:sp>
      <p:sp>
        <p:nvSpPr>
          <p:cNvPr id="5" name="Text 3"/>
          <p:cNvSpPr/>
          <p:nvPr/>
        </p:nvSpPr>
        <p:spPr>
          <a:xfrm>
            <a:off x="457200" y="256032"/>
            <a:ext cx="5486400" cy="201168"/>
          </a:xfrm>
          <a:prstGeom prst="rect">
            <a:avLst/>
          </a:prstGeom>
          <a:noFill/>
          <a:ln/>
        </p:spPr>
        <p:txBody>
          <a:bodyPr wrap="square" rtlCol="0" anchor="ctr"/>
          <a:lstStyle/>
          <a:p>
            <a:pPr indent="0" marL="0">
              <a:buNone/>
            </a:pPr>
            <a:r>
              <a:rPr lang="en-US" sz="700" b="1" spc="200" kern="0" dirty="0">
                <a:solidFill>
                  <a:srgbClr val="1E88E5"/>
                </a:solidFill>
                <a:latin typeface="Calibri" pitchFamily="34" charset="0"/>
                <a:ea typeface="Calibri" pitchFamily="34" charset="-122"/>
                <a:cs typeface="Calibri" pitchFamily="34" charset="-120"/>
              </a:rPr>
              <a:t>MODEL COMPARISON</a:t>
            </a:r>
            <a:endParaRPr lang="en-US" sz="700" dirty="0"/>
          </a:p>
        </p:txBody>
      </p:sp>
      <p:sp>
        <p:nvSpPr>
          <p:cNvPr id="6" name="Text 4"/>
          <p:cNvSpPr/>
          <p:nvPr/>
        </p:nvSpPr>
        <p:spPr>
          <a:xfrm>
            <a:off x="457200" y="41148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Forecasting Model vs Baseline</a:t>
            </a:r>
            <a:endParaRPr lang="en-US" sz="2200" dirty="0"/>
          </a:p>
        </p:txBody>
      </p:sp>
      <p:sp>
        <p:nvSpPr>
          <p:cNvPr id="7" name="Shape 5"/>
          <p:cNvSpPr/>
          <p:nvPr/>
        </p:nvSpPr>
        <p:spPr>
          <a:xfrm>
            <a:off x="457200" y="1005840"/>
            <a:ext cx="8229600" cy="1828800"/>
          </a:xfrm>
          <a:prstGeom prst="roundRect">
            <a:avLst>
              <a:gd name="adj" fmla="val 6000"/>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8" name="Text 6"/>
          <p:cNvSpPr/>
          <p:nvPr/>
        </p:nvSpPr>
        <p:spPr>
          <a:xfrm>
            <a:off x="640080" y="1051560"/>
            <a:ext cx="5486400" cy="201168"/>
          </a:xfrm>
          <a:prstGeom prst="rect">
            <a:avLst/>
          </a:prstGeom>
          <a:noFill/>
          <a:ln/>
        </p:spPr>
        <p:txBody>
          <a:bodyPr wrap="square" rtlCol="0" anchor="ctr"/>
          <a:lstStyle/>
          <a:p>
            <a:pPr indent="0" marL="0">
              <a:buNone/>
            </a:pPr>
            <a:r>
              <a:rPr lang="en-US" sz="700" b="1" spc="100" kern="0" dirty="0">
                <a:solidFill>
                  <a:srgbClr val="1E88E5"/>
                </a:solidFill>
                <a:latin typeface="Calibri" pitchFamily="34" charset="0"/>
                <a:ea typeface="Calibri" pitchFamily="34" charset="-122"/>
                <a:cs typeface="Calibri" pitchFamily="34" charset="-120"/>
              </a:rPr>
              <a:t>HEAD-TO-HEAD COMPARISON</a:t>
            </a:r>
            <a:endParaRPr lang="en-US" sz="700" dirty="0"/>
          </a:p>
        </p:txBody>
      </p:sp>
      <p:sp>
        <p:nvSpPr>
          <p:cNvPr id="9" name="Text 7"/>
          <p:cNvSpPr/>
          <p:nvPr/>
        </p:nvSpPr>
        <p:spPr>
          <a:xfrm>
            <a:off x="640080" y="1325880"/>
            <a:ext cx="1371600" cy="201168"/>
          </a:xfrm>
          <a:prstGeom prst="rect">
            <a:avLst/>
          </a:prstGeom>
          <a:noFill/>
          <a:ln/>
        </p:spPr>
        <p:txBody>
          <a:bodyPr wrap="square" rtlCol="0" anchor="ctr"/>
          <a:lstStyle/>
          <a:p>
            <a:pPr algn="l" indent="0" marL="0">
              <a:buNone/>
            </a:pPr>
            <a:r>
              <a:rPr lang="en-US" sz="750" b="1" dirty="0">
                <a:solidFill>
                  <a:srgbClr val="FFD54F"/>
                </a:solidFill>
                <a:latin typeface="Calibri" pitchFamily="34" charset="0"/>
                <a:ea typeface="Calibri" pitchFamily="34" charset="-122"/>
                <a:cs typeface="Calibri" pitchFamily="34" charset="-120"/>
              </a:rPr>
              <a:t>Model</a:t>
            </a:r>
            <a:endParaRPr lang="en-US" sz="750" dirty="0"/>
          </a:p>
        </p:txBody>
      </p:sp>
      <p:sp>
        <p:nvSpPr>
          <p:cNvPr id="10" name="Text 8"/>
          <p:cNvSpPr/>
          <p:nvPr/>
        </p:nvSpPr>
        <p:spPr>
          <a:xfrm>
            <a:off x="2926080" y="1325880"/>
            <a:ext cx="1371600" cy="201168"/>
          </a:xfrm>
          <a:prstGeom prst="rect">
            <a:avLst/>
          </a:prstGeom>
          <a:noFill/>
          <a:ln/>
        </p:spPr>
        <p:txBody>
          <a:bodyPr wrap="square" rtlCol="0" anchor="ctr"/>
          <a:lstStyle/>
          <a:p>
            <a:pPr algn="ctr" indent="0" marL="0">
              <a:buNone/>
            </a:pPr>
            <a:r>
              <a:rPr lang="en-US" sz="750" b="1" dirty="0">
                <a:solidFill>
                  <a:srgbClr val="FFD54F"/>
                </a:solidFill>
                <a:latin typeface="Calibri" pitchFamily="34" charset="0"/>
                <a:ea typeface="Calibri" pitchFamily="34" charset="-122"/>
                <a:cs typeface="Calibri" pitchFamily="34" charset="-120"/>
              </a:rPr>
              <a:t>MAE</a:t>
            </a:r>
            <a:endParaRPr lang="en-US" sz="750" dirty="0"/>
          </a:p>
        </p:txBody>
      </p:sp>
      <p:sp>
        <p:nvSpPr>
          <p:cNvPr id="11" name="Text 9"/>
          <p:cNvSpPr/>
          <p:nvPr/>
        </p:nvSpPr>
        <p:spPr>
          <a:xfrm>
            <a:off x="4389120" y="1325880"/>
            <a:ext cx="1371600" cy="201168"/>
          </a:xfrm>
          <a:prstGeom prst="rect">
            <a:avLst/>
          </a:prstGeom>
          <a:noFill/>
          <a:ln/>
        </p:spPr>
        <p:txBody>
          <a:bodyPr wrap="square" rtlCol="0" anchor="ctr"/>
          <a:lstStyle/>
          <a:p>
            <a:pPr algn="ctr" indent="0" marL="0">
              <a:buNone/>
            </a:pPr>
            <a:r>
              <a:rPr lang="en-US" sz="750" b="1" dirty="0">
                <a:solidFill>
                  <a:srgbClr val="FFD54F"/>
                </a:solidFill>
                <a:latin typeface="Calibri" pitchFamily="34" charset="0"/>
                <a:ea typeface="Calibri" pitchFamily="34" charset="-122"/>
                <a:cs typeface="Calibri" pitchFamily="34" charset="-120"/>
              </a:rPr>
              <a:t>RMSE</a:t>
            </a:r>
            <a:endParaRPr lang="en-US" sz="750" dirty="0"/>
          </a:p>
        </p:txBody>
      </p:sp>
      <p:sp>
        <p:nvSpPr>
          <p:cNvPr id="12" name="Text 10"/>
          <p:cNvSpPr/>
          <p:nvPr/>
        </p:nvSpPr>
        <p:spPr>
          <a:xfrm>
            <a:off x="5852160" y="1325880"/>
            <a:ext cx="1371600" cy="201168"/>
          </a:xfrm>
          <a:prstGeom prst="rect">
            <a:avLst/>
          </a:prstGeom>
          <a:noFill/>
          <a:ln/>
        </p:spPr>
        <p:txBody>
          <a:bodyPr wrap="square" rtlCol="0" anchor="ctr"/>
          <a:lstStyle/>
          <a:p>
            <a:pPr algn="ctr" indent="0" marL="0">
              <a:buNone/>
            </a:pPr>
            <a:r>
              <a:rPr lang="en-US" sz="750" b="1" dirty="0">
                <a:solidFill>
                  <a:srgbClr val="FFD54F"/>
                </a:solidFill>
                <a:latin typeface="Calibri" pitchFamily="34" charset="0"/>
                <a:ea typeface="Calibri" pitchFamily="34" charset="-122"/>
                <a:cs typeface="Calibri" pitchFamily="34" charset="-120"/>
              </a:rPr>
              <a:t>MAPE (%)</a:t>
            </a:r>
            <a:endParaRPr lang="en-US" sz="750" dirty="0"/>
          </a:p>
        </p:txBody>
      </p:sp>
      <p:sp>
        <p:nvSpPr>
          <p:cNvPr id="13" name="Text 11"/>
          <p:cNvSpPr/>
          <p:nvPr/>
        </p:nvSpPr>
        <p:spPr>
          <a:xfrm>
            <a:off x="7223760" y="1325880"/>
            <a:ext cx="1371600" cy="201168"/>
          </a:xfrm>
          <a:prstGeom prst="rect">
            <a:avLst/>
          </a:prstGeom>
          <a:noFill/>
          <a:ln/>
        </p:spPr>
        <p:txBody>
          <a:bodyPr wrap="square" rtlCol="0" anchor="ctr"/>
          <a:lstStyle/>
          <a:p>
            <a:pPr algn="ctr" indent="0" marL="0">
              <a:buNone/>
            </a:pPr>
            <a:r>
              <a:rPr lang="en-US" sz="750" b="1" dirty="0">
                <a:solidFill>
                  <a:srgbClr val="FFD54F"/>
                </a:solidFill>
                <a:latin typeface="Calibri" pitchFamily="34" charset="0"/>
                <a:ea typeface="Calibri" pitchFamily="34" charset="-122"/>
                <a:cs typeface="Calibri" pitchFamily="34" charset="-120"/>
              </a:rPr>
              <a:t>Winner</a:t>
            </a:r>
            <a:endParaRPr lang="en-US" sz="750" dirty="0"/>
          </a:p>
        </p:txBody>
      </p:sp>
      <p:sp>
        <p:nvSpPr>
          <p:cNvPr id="14" name="Text 12"/>
          <p:cNvSpPr/>
          <p:nvPr/>
        </p:nvSpPr>
        <p:spPr>
          <a:xfrm>
            <a:off x="640080" y="1645920"/>
            <a:ext cx="1371600" cy="411480"/>
          </a:xfrm>
          <a:prstGeom prst="rect">
            <a:avLst/>
          </a:prstGeom>
          <a:noFill/>
          <a:ln/>
        </p:spPr>
        <p:txBody>
          <a:bodyPr wrap="squar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Forecasting Model</a:t>
            </a:r>
            <a:endParaRPr lang="en-US" sz="850" dirty="0"/>
          </a:p>
          <a:p>
            <a:pPr algn="l" indent="0" marL="0">
              <a:buNone/>
            </a:pPr>
            <a:r>
              <a:rPr lang="en-US" sz="850" b="1" dirty="0">
                <a:solidFill>
                  <a:srgbClr val="FFFFFF"/>
                </a:solidFill>
                <a:latin typeface="Calibri" pitchFamily="34" charset="0"/>
                <a:ea typeface="Calibri" pitchFamily="34" charset="-122"/>
                <a:cs typeface="Calibri" pitchFamily="34" charset="-120"/>
              </a:rPr>
              <a:t>(Prophet-style)</a:t>
            </a:r>
            <a:endParaRPr lang="en-US" sz="850" dirty="0"/>
          </a:p>
        </p:txBody>
      </p:sp>
      <p:sp>
        <p:nvSpPr>
          <p:cNvPr id="15" name="Text 13"/>
          <p:cNvSpPr/>
          <p:nvPr/>
        </p:nvSpPr>
        <p:spPr>
          <a:xfrm>
            <a:off x="2926080" y="1645920"/>
            <a:ext cx="1371600" cy="411480"/>
          </a:xfrm>
          <a:prstGeom prst="rect">
            <a:avLst/>
          </a:prstGeom>
          <a:noFill/>
          <a:ln/>
        </p:spPr>
        <p:txBody>
          <a:bodyPr wrap="square" rtlCol="0" anchor="ctr"/>
          <a:lstStyle/>
          <a:p>
            <a:pPr algn="ctr" indent="0" marL="0">
              <a:buNone/>
            </a:pPr>
            <a:r>
              <a:rPr lang="en-US" sz="850" dirty="0">
                <a:solidFill>
                  <a:srgbClr val="A8C9C9"/>
                </a:solidFill>
                <a:latin typeface="Calibri" pitchFamily="34" charset="0"/>
                <a:ea typeface="Calibri" pitchFamily="34" charset="-122"/>
                <a:cs typeface="Calibri" pitchFamily="34" charset="-120"/>
              </a:rPr>
              <a:t>3.51</a:t>
            </a:r>
            <a:endParaRPr lang="en-US" sz="850" dirty="0"/>
          </a:p>
        </p:txBody>
      </p:sp>
      <p:sp>
        <p:nvSpPr>
          <p:cNvPr id="16" name="Text 14"/>
          <p:cNvSpPr/>
          <p:nvPr/>
        </p:nvSpPr>
        <p:spPr>
          <a:xfrm>
            <a:off x="4389120" y="1645920"/>
            <a:ext cx="1371600" cy="411480"/>
          </a:xfrm>
          <a:prstGeom prst="rect">
            <a:avLst/>
          </a:prstGeom>
          <a:noFill/>
          <a:ln/>
        </p:spPr>
        <p:txBody>
          <a:bodyPr wrap="square" rtlCol="0" anchor="ctr"/>
          <a:lstStyle/>
          <a:p>
            <a:pPr algn="ctr" indent="0" marL="0">
              <a:buNone/>
            </a:pPr>
            <a:r>
              <a:rPr lang="en-US" sz="850" dirty="0">
                <a:solidFill>
                  <a:srgbClr val="A8C9C9"/>
                </a:solidFill>
                <a:latin typeface="Calibri" pitchFamily="34" charset="0"/>
                <a:ea typeface="Calibri" pitchFamily="34" charset="-122"/>
                <a:cs typeface="Calibri" pitchFamily="34" charset="-120"/>
              </a:rPr>
              <a:t>4.36</a:t>
            </a:r>
            <a:endParaRPr lang="en-US" sz="850" dirty="0"/>
          </a:p>
        </p:txBody>
      </p:sp>
      <p:sp>
        <p:nvSpPr>
          <p:cNvPr id="17" name="Text 15"/>
          <p:cNvSpPr/>
          <p:nvPr/>
        </p:nvSpPr>
        <p:spPr>
          <a:xfrm>
            <a:off x="5852160" y="1645920"/>
            <a:ext cx="1371600" cy="411480"/>
          </a:xfrm>
          <a:prstGeom prst="rect">
            <a:avLst/>
          </a:prstGeom>
          <a:noFill/>
          <a:ln/>
        </p:spPr>
        <p:txBody>
          <a:bodyPr wrap="square" rtlCol="0" anchor="ctr"/>
          <a:lstStyle/>
          <a:p>
            <a:pPr algn="ctr" indent="0" marL="0">
              <a:buNone/>
            </a:pPr>
            <a:r>
              <a:rPr lang="en-US" sz="850" dirty="0">
                <a:solidFill>
                  <a:srgbClr val="A8C9C9"/>
                </a:solidFill>
                <a:latin typeface="Calibri" pitchFamily="34" charset="0"/>
                <a:ea typeface="Calibri" pitchFamily="34" charset="-122"/>
                <a:cs typeface="Calibri" pitchFamily="34" charset="-120"/>
              </a:rPr>
              <a:t>13.9</a:t>
            </a:r>
            <a:endParaRPr lang="en-US" sz="850" dirty="0"/>
          </a:p>
        </p:txBody>
      </p:sp>
      <p:sp>
        <p:nvSpPr>
          <p:cNvPr id="18" name="Text 16"/>
          <p:cNvSpPr/>
          <p:nvPr/>
        </p:nvSpPr>
        <p:spPr>
          <a:xfrm>
            <a:off x="7223760" y="1645920"/>
            <a:ext cx="1371600" cy="411480"/>
          </a:xfrm>
          <a:prstGeom prst="rect">
            <a:avLst/>
          </a:prstGeom>
          <a:noFill/>
          <a:ln/>
        </p:spPr>
        <p:txBody>
          <a:bodyPr wrap="square" rtlCol="0" anchor="ctr"/>
          <a:lstStyle/>
          <a:p>
            <a:pPr algn="ctr" indent="0" marL="0">
              <a:buNone/>
            </a:pPr>
            <a:r>
              <a:rPr lang="en-US" sz="850" b="1" dirty="0">
                <a:solidFill>
                  <a:srgbClr val="00E396"/>
                </a:solidFill>
                <a:latin typeface="Calibri" pitchFamily="34" charset="0"/>
                <a:ea typeface="Calibri" pitchFamily="34" charset="-122"/>
                <a:cs typeface="Calibri" pitchFamily="34" charset="-120"/>
              </a:rPr>
              <a:t>✓ Best</a:t>
            </a:r>
            <a:endParaRPr lang="en-US" sz="850" dirty="0"/>
          </a:p>
        </p:txBody>
      </p:sp>
      <p:sp>
        <p:nvSpPr>
          <p:cNvPr id="19" name="Text 17"/>
          <p:cNvSpPr/>
          <p:nvPr/>
        </p:nvSpPr>
        <p:spPr>
          <a:xfrm>
            <a:off x="640080" y="2103120"/>
            <a:ext cx="1371600" cy="411480"/>
          </a:xfrm>
          <a:prstGeom prst="rect">
            <a:avLst/>
          </a:prstGeom>
          <a:noFill/>
          <a:ln/>
        </p:spPr>
        <p:txBody>
          <a:bodyPr wrap="square" rtlCol="0" anchor="ctr"/>
          <a:lstStyle/>
          <a:p>
            <a:pPr algn="l" indent="0" marL="0">
              <a:buNone/>
            </a:pPr>
            <a:r>
              <a:rPr lang="en-US" sz="850" b="1" dirty="0">
                <a:solidFill>
                  <a:srgbClr val="FFFFFF"/>
                </a:solidFill>
                <a:latin typeface="Calibri" pitchFamily="34" charset="0"/>
                <a:ea typeface="Calibri" pitchFamily="34" charset="-122"/>
                <a:cs typeface="Calibri" pitchFamily="34" charset="-120"/>
              </a:rPr>
              <a:t>Baseline</a:t>
            </a:r>
            <a:endParaRPr lang="en-US" sz="850" dirty="0"/>
          </a:p>
          <a:p>
            <a:pPr algn="l" indent="0" marL="0">
              <a:buNone/>
            </a:pPr>
            <a:r>
              <a:rPr lang="en-US" sz="850" b="1" dirty="0">
                <a:solidFill>
                  <a:srgbClr val="FFFFFF"/>
                </a:solidFill>
                <a:latin typeface="Calibri" pitchFamily="34" charset="0"/>
                <a:ea typeface="Calibri" pitchFamily="34" charset="-122"/>
                <a:cs typeface="Calibri" pitchFamily="34" charset="-120"/>
              </a:rPr>
              <a:t>(Naive Seasonal)</a:t>
            </a:r>
            <a:endParaRPr lang="en-US" sz="850" dirty="0"/>
          </a:p>
        </p:txBody>
      </p:sp>
      <p:sp>
        <p:nvSpPr>
          <p:cNvPr id="20" name="Text 18"/>
          <p:cNvSpPr/>
          <p:nvPr/>
        </p:nvSpPr>
        <p:spPr>
          <a:xfrm>
            <a:off x="2926080" y="2103120"/>
            <a:ext cx="1371600" cy="411480"/>
          </a:xfrm>
          <a:prstGeom prst="rect">
            <a:avLst/>
          </a:prstGeom>
          <a:noFill/>
          <a:ln/>
        </p:spPr>
        <p:txBody>
          <a:bodyPr wrap="square" rtlCol="0" anchor="ctr"/>
          <a:lstStyle/>
          <a:p>
            <a:pPr algn="ctr" indent="0" marL="0">
              <a:buNone/>
            </a:pPr>
            <a:r>
              <a:rPr lang="en-US" sz="850" dirty="0">
                <a:solidFill>
                  <a:srgbClr val="A8C9C9"/>
                </a:solidFill>
                <a:latin typeface="Calibri" pitchFamily="34" charset="0"/>
                <a:ea typeface="Calibri" pitchFamily="34" charset="-122"/>
                <a:cs typeface="Calibri" pitchFamily="34" charset="-120"/>
              </a:rPr>
              <a:t>5.20</a:t>
            </a:r>
            <a:endParaRPr lang="en-US" sz="850" dirty="0"/>
          </a:p>
        </p:txBody>
      </p:sp>
      <p:sp>
        <p:nvSpPr>
          <p:cNvPr id="21" name="Text 19"/>
          <p:cNvSpPr/>
          <p:nvPr/>
        </p:nvSpPr>
        <p:spPr>
          <a:xfrm>
            <a:off x="4389120" y="2103120"/>
            <a:ext cx="1371600" cy="411480"/>
          </a:xfrm>
          <a:prstGeom prst="rect">
            <a:avLst/>
          </a:prstGeom>
          <a:noFill/>
          <a:ln/>
        </p:spPr>
        <p:txBody>
          <a:bodyPr wrap="square" rtlCol="0" anchor="ctr"/>
          <a:lstStyle/>
          <a:p>
            <a:pPr algn="ctr" indent="0" marL="0">
              <a:buNone/>
            </a:pPr>
            <a:r>
              <a:rPr lang="en-US" sz="850" dirty="0">
                <a:solidFill>
                  <a:srgbClr val="A8C9C9"/>
                </a:solidFill>
                <a:latin typeface="Calibri" pitchFamily="34" charset="0"/>
                <a:ea typeface="Calibri" pitchFamily="34" charset="-122"/>
                <a:cs typeface="Calibri" pitchFamily="34" charset="-120"/>
              </a:rPr>
              <a:t>6.54</a:t>
            </a:r>
            <a:endParaRPr lang="en-US" sz="850" dirty="0"/>
          </a:p>
        </p:txBody>
      </p:sp>
      <p:sp>
        <p:nvSpPr>
          <p:cNvPr id="22" name="Text 20"/>
          <p:cNvSpPr/>
          <p:nvPr/>
        </p:nvSpPr>
        <p:spPr>
          <a:xfrm>
            <a:off x="5852160" y="2103120"/>
            <a:ext cx="1371600" cy="411480"/>
          </a:xfrm>
          <a:prstGeom prst="rect">
            <a:avLst/>
          </a:prstGeom>
          <a:noFill/>
          <a:ln/>
        </p:spPr>
        <p:txBody>
          <a:bodyPr wrap="square" rtlCol="0" anchor="ctr"/>
          <a:lstStyle/>
          <a:p>
            <a:pPr algn="ctr" indent="0" marL="0">
              <a:buNone/>
            </a:pPr>
            <a:r>
              <a:rPr lang="en-US" sz="850" dirty="0">
                <a:solidFill>
                  <a:srgbClr val="A8C9C9"/>
                </a:solidFill>
                <a:latin typeface="Calibri" pitchFamily="34" charset="0"/>
                <a:ea typeface="Calibri" pitchFamily="34" charset="-122"/>
                <a:cs typeface="Calibri" pitchFamily="34" charset="-120"/>
              </a:rPr>
              <a:t>21.6</a:t>
            </a:r>
            <a:endParaRPr lang="en-US" sz="850" dirty="0"/>
          </a:p>
        </p:txBody>
      </p:sp>
      <p:sp>
        <p:nvSpPr>
          <p:cNvPr id="23" name="Text 21"/>
          <p:cNvSpPr/>
          <p:nvPr/>
        </p:nvSpPr>
        <p:spPr>
          <a:xfrm>
            <a:off x="7223760" y="2103120"/>
            <a:ext cx="1371600" cy="411480"/>
          </a:xfrm>
          <a:prstGeom prst="rect">
            <a:avLst/>
          </a:prstGeom>
          <a:noFill/>
          <a:ln/>
        </p:spPr>
        <p:txBody>
          <a:bodyPr wrap="square" rtlCol="0" anchor="ctr"/>
          <a:lstStyle/>
          <a:p>
            <a:pPr algn="ctr" indent="0" marL="0">
              <a:buNone/>
            </a:pPr>
            <a:r>
              <a:rPr lang="en-US" sz="850" b="1" dirty="0">
                <a:solidFill>
                  <a:srgbClr val="00E396"/>
                </a:solidFill>
                <a:latin typeface="Calibri" pitchFamily="34" charset="0"/>
                <a:ea typeface="Calibri" pitchFamily="34" charset="-122"/>
                <a:cs typeface="Calibri" pitchFamily="34" charset="-120"/>
              </a:rPr>
              <a:t>—</a:t>
            </a:r>
            <a:endParaRPr lang="en-US" sz="850" dirty="0"/>
          </a:p>
        </p:txBody>
      </p:sp>
      <p:sp>
        <p:nvSpPr>
          <p:cNvPr id="24" name="Shape 22"/>
          <p:cNvSpPr/>
          <p:nvPr/>
        </p:nvSpPr>
        <p:spPr>
          <a:xfrm>
            <a:off x="457200" y="3017520"/>
            <a:ext cx="8229600" cy="1828800"/>
          </a:xfrm>
          <a:prstGeom prst="roundRect">
            <a:avLst>
              <a:gd name="adj" fmla="val 6000"/>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25" name="Text 23"/>
          <p:cNvSpPr/>
          <p:nvPr/>
        </p:nvSpPr>
        <p:spPr>
          <a:xfrm>
            <a:off x="640080" y="3108960"/>
            <a:ext cx="7315200" cy="274320"/>
          </a:xfrm>
          <a:prstGeom prst="rect">
            <a:avLst/>
          </a:prstGeom>
          <a:noFill/>
          <a:ln/>
        </p:spPr>
        <p:txBody>
          <a:bodyPr wrap="square" rtlCol="0" anchor="ctr"/>
          <a:lstStyle/>
          <a:p>
            <a:pPr indent="0" marL="0">
              <a:buNone/>
            </a:pPr>
            <a:r>
              <a:rPr lang="en-US" sz="1000" b="1" dirty="0">
                <a:solidFill>
                  <a:srgbClr val="FFD54F"/>
                </a:solidFill>
                <a:latin typeface="Calibri" pitchFamily="34" charset="0"/>
                <a:ea typeface="Calibri" pitchFamily="34" charset="-122"/>
                <a:cs typeface="Calibri" pitchFamily="34" charset="-120"/>
              </a:rPr>
              <a:t>💡  Why the forecasting model wins</a:t>
            </a:r>
            <a:endParaRPr lang="en-US" sz="1000" dirty="0"/>
          </a:p>
        </p:txBody>
      </p:sp>
      <p:sp>
        <p:nvSpPr>
          <p:cNvPr id="26" name="Shape 24"/>
          <p:cNvSpPr/>
          <p:nvPr/>
        </p:nvSpPr>
        <p:spPr>
          <a:xfrm>
            <a:off x="685800" y="3474720"/>
            <a:ext cx="146304" cy="146304"/>
          </a:xfrm>
          <a:prstGeom prst="ellipse">
            <a:avLst/>
          </a:prstGeom>
          <a:solidFill>
            <a:srgbClr val="00897B">
              <a:alpha val="60000"/>
            </a:srgbClr>
          </a:solidFill>
          <a:ln w="12700">
            <a:solidFill>
              <a:srgbClr val="00897B">
                <a:alpha val="80000"/>
              </a:srgbClr>
            </a:solidFill>
            <a:prstDash val="solid"/>
          </a:ln>
        </p:spPr>
      </p:sp>
      <p:sp>
        <p:nvSpPr>
          <p:cNvPr id="27" name="Text 25"/>
          <p:cNvSpPr/>
          <p:nvPr/>
        </p:nvSpPr>
        <p:spPr>
          <a:xfrm>
            <a:off x="914400" y="3438144"/>
            <a:ext cx="7498080" cy="256032"/>
          </a:xfrm>
          <a:prstGeom prst="rect">
            <a:avLst/>
          </a:prstGeom>
          <a:noFill/>
          <a:ln/>
        </p:spPr>
        <p:txBody>
          <a:bodyPr wrap="square" rtlCol="0" anchor="ctr"/>
          <a:lstStyle/>
          <a:p>
            <a:pPr indent="0" marL="0">
              <a:buNone/>
            </a:pPr>
            <a:r>
              <a:rPr lang="en-US" sz="850" dirty="0">
                <a:solidFill>
                  <a:srgbClr val="A8C9C9"/>
                </a:solidFill>
                <a:latin typeface="Calibri" pitchFamily="34" charset="0"/>
                <a:ea typeface="Calibri" pitchFamily="34" charset="-122"/>
                <a:cs typeface="Calibri" pitchFamily="34" charset="-120"/>
              </a:rPr>
              <a:t>Captures daily AND weekly seasonality simultaneously (commute + weekend patterns)</a:t>
            </a:r>
            <a:endParaRPr lang="en-US" sz="850" dirty="0"/>
          </a:p>
        </p:txBody>
      </p:sp>
      <p:sp>
        <p:nvSpPr>
          <p:cNvPr id="28" name="Shape 26"/>
          <p:cNvSpPr/>
          <p:nvPr/>
        </p:nvSpPr>
        <p:spPr>
          <a:xfrm>
            <a:off x="685800" y="3767328"/>
            <a:ext cx="146304" cy="146304"/>
          </a:xfrm>
          <a:prstGeom prst="ellipse">
            <a:avLst/>
          </a:prstGeom>
          <a:solidFill>
            <a:srgbClr val="00897B">
              <a:alpha val="60000"/>
            </a:srgbClr>
          </a:solidFill>
          <a:ln w="12700">
            <a:solidFill>
              <a:srgbClr val="00897B">
                <a:alpha val="80000"/>
              </a:srgbClr>
            </a:solidFill>
            <a:prstDash val="solid"/>
          </a:ln>
        </p:spPr>
      </p:sp>
      <p:sp>
        <p:nvSpPr>
          <p:cNvPr id="29" name="Text 27"/>
          <p:cNvSpPr/>
          <p:nvPr/>
        </p:nvSpPr>
        <p:spPr>
          <a:xfrm>
            <a:off x="914400" y="3730752"/>
            <a:ext cx="7498080" cy="256032"/>
          </a:xfrm>
          <a:prstGeom prst="rect">
            <a:avLst/>
          </a:prstGeom>
          <a:noFill/>
          <a:ln/>
        </p:spPr>
        <p:txBody>
          <a:bodyPr wrap="square" rtlCol="0" anchor="ctr"/>
          <a:lstStyle/>
          <a:p>
            <a:pPr indent="0" marL="0">
              <a:buNone/>
            </a:pPr>
            <a:r>
              <a:rPr lang="en-US" sz="850" dirty="0">
                <a:solidFill>
                  <a:srgbClr val="A8C9C9"/>
                </a:solidFill>
                <a:latin typeface="Calibri" pitchFamily="34" charset="0"/>
                <a:ea typeface="Calibri" pitchFamily="34" charset="-122"/>
                <a:cs typeface="Calibri" pitchFamily="34" charset="-120"/>
              </a:rPr>
              <a:t>Incorporates external regressors — temperature and traffic directly influence predictions</a:t>
            </a:r>
            <a:endParaRPr lang="en-US" sz="850" dirty="0"/>
          </a:p>
        </p:txBody>
      </p:sp>
      <p:sp>
        <p:nvSpPr>
          <p:cNvPr id="30" name="Shape 28"/>
          <p:cNvSpPr/>
          <p:nvPr/>
        </p:nvSpPr>
        <p:spPr>
          <a:xfrm>
            <a:off x="685800" y="4059936"/>
            <a:ext cx="146304" cy="146304"/>
          </a:xfrm>
          <a:prstGeom prst="ellipse">
            <a:avLst/>
          </a:prstGeom>
          <a:solidFill>
            <a:srgbClr val="00897B">
              <a:alpha val="60000"/>
            </a:srgbClr>
          </a:solidFill>
          <a:ln w="12700">
            <a:solidFill>
              <a:srgbClr val="00897B">
                <a:alpha val="80000"/>
              </a:srgbClr>
            </a:solidFill>
            <a:prstDash val="solid"/>
          </a:ln>
        </p:spPr>
      </p:sp>
      <p:sp>
        <p:nvSpPr>
          <p:cNvPr id="31" name="Text 29"/>
          <p:cNvSpPr/>
          <p:nvPr/>
        </p:nvSpPr>
        <p:spPr>
          <a:xfrm>
            <a:off x="914400" y="4023360"/>
            <a:ext cx="7498080" cy="256032"/>
          </a:xfrm>
          <a:prstGeom prst="rect">
            <a:avLst/>
          </a:prstGeom>
          <a:noFill/>
          <a:ln/>
        </p:spPr>
        <p:txBody>
          <a:bodyPr wrap="square" rtlCol="0" anchor="ctr"/>
          <a:lstStyle/>
          <a:p>
            <a:pPr indent="0" marL="0">
              <a:buNone/>
            </a:pPr>
            <a:r>
              <a:rPr lang="en-US" sz="850" dirty="0">
                <a:solidFill>
                  <a:srgbClr val="A8C9C9"/>
                </a:solidFill>
                <a:latin typeface="Calibri" pitchFamily="34" charset="0"/>
                <a:ea typeface="Calibri" pitchFamily="34" charset="-122"/>
                <a:cs typeface="Calibri" pitchFamily="34" charset="-120"/>
              </a:rPr>
              <a:t>33% lower MAPE than naive seasonal baseline — meaningfully more accurate for planning</a:t>
            </a:r>
            <a:endParaRPr lang="en-US" sz="850" dirty="0"/>
          </a:p>
        </p:txBody>
      </p:sp>
      <p:sp>
        <p:nvSpPr>
          <p:cNvPr id="32" name="Shape 30"/>
          <p:cNvSpPr/>
          <p:nvPr/>
        </p:nvSpPr>
        <p:spPr>
          <a:xfrm>
            <a:off x="685800" y="4352544"/>
            <a:ext cx="146304" cy="146304"/>
          </a:xfrm>
          <a:prstGeom prst="ellipse">
            <a:avLst/>
          </a:prstGeom>
          <a:solidFill>
            <a:srgbClr val="00897B">
              <a:alpha val="60000"/>
            </a:srgbClr>
          </a:solidFill>
          <a:ln w="12700">
            <a:solidFill>
              <a:srgbClr val="00897B">
                <a:alpha val="80000"/>
              </a:srgbClr>
            </a:solidFill>
            <a:prstDash val="solid"/>
          </a:ln>
        </p:spPr>
      </p:sp>
      <p:sp>
        <p:nvSpPr>
          <p:cNvPr id="33" name="Text 31"/>
          <p:cNvSpPr/>
          <p:nvPr/>
        </p:nvSpPr>
        <p:spPr>
          <a:xfrm>
            <a:off x="914400" y="4315968"/>
            <a:ext cx="7498080" cy="256032"/>
          </a:xfrm>
          <a:prstGeom prst="rect">
            <a:avLst/>
          </a:prstGeom>
          <a:noFill/>
          <a:ln/>
        </p:spPr>
        <p:txBody>
          <a:bodyPr wrap="square" rtlCol="0" anchor="ctr"/>
          <a:lstStyle/>
          <a:p>
            <a:pPr indent="0" marL="0">
              <a:buNone/>
            </a:pPr>
            <a:r>
              <a:rPr lang="en-US" sz="850" dirty="0">
                <a:solidFill>
                  <a:srgbClr val="A8C9C9"/>
                </a:solidFill>
                <a:latin typeface="Calibri" pitchFamily="34" charset="0"/>
                <a:ea typeface="Calibri" pitchFamily="34" charset="-122"/>
                <a:cs typeface="Calibri" pitchFamily="34" charset="-120"/>
              </a:rPr>
              <a:t>Provides confidence intervals — critical for capacity planning under uncertainty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F1F"/>
          </a:solidFill>
          <a:ln w="12700">
            <a:solidFill>
              <a:srgbClr val="0A1F1F"/>
            </a:solidFill>
            <a:prstDash val="solid"/>
          </a:ln>
        </p:spPr>
      </p:sp>
      <p:sp>
        <p:nvSpPr>
          <p:cNvPr id="3" name="Shape 1"/>
          <p:cNvSpPr/>
          <p:nvPr/>
        </p:nvSpPr>
        <p:spPr>
          <a:xfrm>
            <a:off x="-1371600" y="-914400"/>
            <a:ext cx="4572000" cy="4572000"/>
          </a:xfrm>
          <a:prstGeom prst="ellipse">
            <a:avLst/>
          </a:prstGeom>
          <a:solidFill>
            <a:srgbClr val="00897B">
              <a:alpha val="12000"/>
            </a:srgbClr>
          </a:solidFill>
          <a:ln w="12700">
            <a:solidFill>
              <a:srgbClr val="00897B">
                <a:alpha val="12000"/>
              </a:srgbClr>
            </a:solidFill>
            <a:prstDash val="solid"/>
          </a:ln>
        </p:spPr>
      </p:sp>
      <p:sp>
        <p:nvSpPr>
          <p:cNvPr id="4" name="Shape 2"/>
          <p:cNvSpPr/>
          <p:nvPr/>
        </p:nvSpPr>
        <p:spPr>
          <a:xfrm>
            <a:off x="6400800" y="1828800"/>
            <a:ext cx="3657600" cy="3657600"/>
          </a:xfrm>
          <a:prstGeom prst="ellipse">
            <a:avLst/>
          </a:prstGeom>
          <a:solidFill>
            <a:srgbClr val="1E88E5">
              <a:alpha val="10000"/>
            </a:srgbClr>
          </a:solidFill>
          <a:ln w="12700">
            <a:solidFill>
              <a:srgbClr val="1E88E5">
                <a:alpha val="10000"/>
              </a:srgbClr>
            </a:solidFill>
            <a:prstDash val="solid"/>
          </a:ln>
        </p:spPr>
      </p:sp>
      <p:sp>
        <p:nvSpPr>
          <p:cNvPr id="5" name="Text 3"/>
          <p:cNvSpPr/>
          <p:nvPr/>
        </p:nvSpPr>
        <p:spPr>
          <a:xfrm>
            <a:off x="457200" y="256032"/>
            <a:ext cx="5486400" cy="201168"/>
          </a:xfrm>
          <a:prstGeom prst="rect">
            <a:avLst/>
          </a:prstGeom>
          <a:noFill/>
          <a:ln/>
        </p:spPr>
        <p:txBody>
          <a:bodyPr wrap="square" rtlCol="0" anchor="ctr"/>
          <a:lstStyle/>
          <a:p>
            <a:pPr indent="0" marL="0">
              <a:buNone/>
            </a:pPr>
            <a:r>
              <a:rPr lang="en-US" sz="700" b="1" spc="200" kern="0" dirty="0">
                <a:solidFill>
                  <a:srgbClr val="1E88E5"/>
                </a:solidFill>
                <a:latin typeface="Calibri" pitchFamily="34" charset="0"/>
                <a:ea typeface="Calibri" pitchFamily="34" charset="-122"/>
                <a:cs typeface="Calibri" pitchFamily="34" charset="-120"/>
              </a:rPr>
              <a:t>BUSINESS RECOMMENDATIONS</a:t>
            </a:r>
            <a:endParaRPr lang="en-US" sz="700" dirty="0"/>
          </a:p>
        </p:txBody>
      </p:sp>
      <p:sp>
        <p:nvSpPr>
          <p:cNvPr id="6" name="Text 4"/>
          <p:cNvSpPr/>
          <p:nvPr/>
        </p:nvSpPr>
        <p:spPr>
          <a:xfrm>
            <a:off x="457200" y="41148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Charging Optimization Strategy</a:t>
            </a:r>
            <a:endParaRPr lang="en-US" sz="2200" dirty="0"/>
          </a:p>
        </p:txBody>
      </p:sp>
      <p:sp>
        <p:nvSpPr>
          <p:cNvPr id="7" name="Shape 5"/>
          <p:cNvSpPr/>
          <p:nvPr/>
        </p:nvSpPr>
        <p:spPr>
          <a:xfrm>
            <a:off x="457200" y="1005840"/>
            <a:ext cx="2651760" cy="1920240"/>
          </a:xfrm>
          <a:prstGeom prst="roundRect">
            <a:avLst>
              <a:gd name="adj" fmla="val 5714"/>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8" name="Text 6"/>
          <p:cNvSpPr/>
          <p:nvPr/>
        </p:nvSpPr>
        <p:spPr>
          <a:xfrm>
            <a:off x="594360" y="1078992"/>
            <a:ext cx="2377440" cy="45720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594360" y="1508760"/>
            <a:ext cx="2377440" cy="274320"/>
          </a:xfrm>
          <a:prstGeom prst="rect">
            <a:avLst/>
          </a:prstGeom>
          <a:noFill/>
          <a:ln/>
        </p:spPr>
        <p:txBody>
          <a:bodyPr wrap="square" rtlCol="0" anchor="ctr"/>
          <a:lstStyle/>
          <a:p>
            <a:pPr algn="ctr" indent="0" marL="0">
              <a:buNone/>
            </a:pPr>
            <a:r>
              <a:rPr lang="en-US" sz="900" b="1" dirty="0">
                <a:solidFill>
                  <a:srgbClr val="A8C9C9"/>
                </a:solidFill>
                <a:latin typeface="Calibri" pitchFamily="34" charset="0"/>
                <a:ea typeface="Calibri" pitchFamily="34" charset="-122"/>
                <a:cs typeface="Calibri" pitchFamily="34" charset="-120"/>
              </a:rPr>
              <a:t>Peak Hours</a:t>
            </a:r>
            <a:endParaRPr lang="en-US" sz="900" dirty="0"/>
          </a:p>
        </p:txBody>
      </p:sp>
      <p:sp>
        <p:nvSpPr>
          <p:cNvPr id="10" name="Text 8"/>
          <p:cNvSpPr/>
          <p:nvPr/>
        </p:nvSpPr>
        <p:spPr>
          <a:xfrm>
            <a:off x="548640" y="1783080"/>
            <a:ext cx="2468880" cy="411480"/>
          </a:xfrm>
          <a:prstGeom prst="rect">
            <a:avLst/>
          </a:prstGeom>
          <a:noFill/>
          <a:ln/>
        </p:spPr>
        <p:txBody>
          <a:bodyPr wrap="square" rtlCol="0" anchor="ctr"/>
          <a:lstStyle/>
          <a:p>
            <a:pPr algn="ctr" indent="0" marL="0">
              <a:buNone/>
            </a:pPr>
            <a:r>
              <a:rPr lang="en-US" sz="1700" b="1" dirty="0">
                <a:solidFill>
                  <a:srgbClr val="FF6E6E"/>
                </a:solidFill>
                <a:latin typeface="Calibri" pitchFamily="34" charset="0"/>
                <a:ea typeface="Calibri" pitchFamily="34" charset="-122"/>
                <a:cs typeface="Calibri" pitchFamily="34" charset="-120"/>
              </a:rPr>
              <a:t>4 PM – 7 PM</a:t>
            </a:r>
            <a:endParaRPr lang="en-US" sz="1700" dirty="0"/>
          </a:p>
        </p:txBody>
      </p:sp>
      <p:sp>
        <p:nvSpPr>
          <p:cNvPr id="11" name="Text 9"/>
          <p:cNvSpPr/>
          <p:nvPr/>
        </p:nvSpPr>
        <p:spPr>
          <a:xfrm>
            <a:off x="594360" y="2240280"/>
            <a:ext cx="2377440" cy="640080"/>
          </a:xfrm>
          <a:prstGeom prst="rect">
            <a:avLst/>
          </a:prstGeom>
          <a:noFill/>
          <a:ln/>
        </p:spPr>
        <p:txBody>
          <a:bodyPr wrap="square" rtlCol="0" anchor="ctr"/>
          <a:lstStyle/>
          <a:p>
            <a:pPr algn="ctr" indent="0" marL="0">
              <a:lnSpc>
                <a:spcPct val="135000"/>
              </a:lnSpc>
              <a:buNone/>
            </a:pPr>
            <a:r>
              <a:rPr lang="en-US" sz="750" dirty="0">
                <a:solidFill>
                  <a:srgbClr val="A8C9C9"/>
                </a:solidFill>
                <a:latin typeface="Calibri" pitchFamily="34" charset="0"/>
                <a:ea typeface="Calibri" pitchFamily="34" charset="-122"/>
                <a:cs typeface="Calibri" pitchFamily="34" charset="-120"/>
              </a:rPr>
              <a:t>Highest demand window — commute hours combined with evening charging</a:t>
            </a:r>
            <a:endParaRPr lang="en-US" sz="750" dirty="0"/>
          </a:p>
        </p:txBody>
      </p:sp>
      <p:sp>
        <p:nvSpPr>
          <p:cNvPr id="12" name="Shape 10"/>
          <p:cNvSpPr/>
          <p:nvPr/>
        </p:nvSpPr>
        <p:spPr>
          <a:xfrm>
            <a:off x="3346704" y="1005840"/>
            <a:ext cx="2651760" cy="1920240"/>
          </a:xfrm>
          <a:prstGeom prst="roundRect">
            <a:avLst>
              <a:gd name="adj" fmla="val 5714"/>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13" name="Text 11"/>
          <p:cNvSpPr/>
          <p:nvPr/>
        </p:nvSpPr>
        <p:spPr>
          <a:xfrm>
            <a:off x="3483864" y="1078992"/>
            <a:ext cx="2377440" cy="45720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3483864" y="1508760"/>
            <a:ext cx="2377440" cy="274320"/>
          </a:xfrm>
          <a:prstGeom prst="rect">
            <a:avLst/>
          </a:prstGeom>
          <a:noFill/>
          <a:ln/>
        </p:spPr>
        <p:txBody>
          <a:bodyPr wrap="square" rtlCol="0" anchor="ctr"/>
          <a:lstStyle/>
          <a:p>
            <a:pPr algn="ctr" indent="0" marL="0">
              <a:buNone/>
            </a:pPr>
            <a:r>
              <a:rPr lang="en-US" sz="900" b="1" dirty="0">
                <a:solidFill>
                  <a:srgbClr val="A8C9C9"/>
                </a:solidFill>
                <a:latin typeface="Calibri" pitchFamily="34" charset="0"/>
                <a:ea typeface="Calibri" pitchFamily="34" charset="-122"/>
                <a:cs typeface="Calibri" pitchFamily="34" charset="-120"/>
              </a:rPr>
              <a:t>Off-Peak Hours</a:t>
            </a:r>
            <a:endParaRPr lang="en-US" sz="900" dirty="0"/>
          </a:p>
        </p:txBody>
      </p:sp>
      <p:sp>
        <p:nvSpPr>
          <p:cNvPr id="15" name="Text 13"/>
          <p:cNvSpPr/>
          <p:nvPr/>
        </p:nvSpPr>
        <p:spPr>
          <a:xfrm>
            <a:off x="3438144" y="1783080"/>
            <a:ext cx="2468880" cy="411480"/>
          </a:xfrm>
          <a:prstGeom prst="rect">
            <a:avLst/>
          </a:prstGeom>
          <a:noFill/>
          <a:ln/>
        </p:spPr>
        <p:txBody>
          <a:bodyPr wrap="square" rtlCol="0" anchor="ctr"/>
          <a:lstStyle/>
          <a:p>
            <a:pPr algn="ctr" indent="0" marL="0">
              <a:buNone/>
            </a:pPr>
            <a:r>
              <a:rPr lang="en-US" sz="1700" b="1" dirty="0">
                <a:solidFill>
                  <a:srgbClr val="1E88E5"/>
                </a:solidFill>
                <a:latin typeface="Calibri" pitchFamily="34" charset="0"/>
                <a:ea typeface="Calibri" pitchFamily="34" charset="-122"/>
                <a:cs typeface="Calibri" pitchFamily="34" charset="-120"/>
              </a:rPr>
              <a:t>12 AM – 3 AM</a:t>
            </a:r>
            <a:endParaRPr lang="en-US" sz="1700" dirty="0"/>
          </a:p>
        </p:txBody>
      </p:sp>
      <p:sp>
        <p:nvSpPr>
          <p:cNvPr id="16" name="Text 14"/>
          <p:cNvSpPr/>
          <p:nvPr/>
        </p:nvSpPr>
        <p:spPr>
          <a:xfrm>
            <a:off x="3483864" y="2240280"/>
            <a:ext cx="2377440" cy="640080"/>
          </a:xfrm>
          <a:prstGeom prst="rect">
            <a:avLst/>
          </a:prstGeom>
          <a:noFill/>
          <a:ln/>
        </p:spPr>
        <p:txBody>
          <a:bodyPr wrap="square" rtlCol="0" anchor="ctr"/>
          <a:lstStyle/>
          <a:p>
            <a:pPr algn="ctr" indent="0" marL="0">
              <a:lnSpc>
                <a:spcPct val="135000"/>
              </a:lnSpc>
              <a:buNone/>
            </a:pPr>
            <a:r>
              <a:rPr lang="en-US" sz="750" dirty="0">
                <a:solidFill>
                  <a:srgbClr val="A8C9C9"/>
                </a:solidFill>
                <a:latin typeface="Calibri" pitchFamily="34" charset="0"/>
                <a:ea typeface="Calibri" pitchFamily="34" charset="-122"/>
                <a:cs typeface="Calibri" pitchFamily="34" charset="-120"/>
              </a:rPr>
              <a:t>Lowest demand window — ideal for maintenance &amp; discounted charging</a:t>
            </a:r>
            <a:endParaRPr lang="en-US" sz="750" dirty="0"/>
          </a:p>
        </p:txBody>
      </p:sp>
      <p:sp>
        <p:nvSpPr>
          <p:cNvPr id="17" name="Shape 15"/>
          <p:cNvSpPr/>
          <p:nvPr/>
        </p:nvSpPr>
        <p:spPr>
          <a:xfrm>
            <a:off x="6236208" y="1005840"/>
            <a:ext cx="2651760" cy="1920240"/>
          </a:xfrm>
          <a:prstGeom prst="roundRect">
            <a:avLst>
              <a:gd name="adj" fmla="val 5714"/>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18" name="Text 16"/>
          <p:cNvSpPr/>
          <p:nvPr/>
        </p:nvSpPr>
        <p:spPr>
          <a:xfrm>
            <a:off x="6373368" y="1078992"/>
            <a:ext cx="2377440" cy="457200"/>
          </a:xfrm>
          <a:prstGeom prst="rect">
            <a:avLst/>
          </a:prstGeom>
          <a:noFill/>
          <a:ln/>
        </p:spPr>
        <p:txBody>
          <a:bodyPr wrap="square"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9" name="Text 17"/>
          <p:cNvSpPr/>
          <p:nvPr/>
        </p:nvSpPr>
        <p:spPr>
          <a:xfrm>
            <a:off x="6373368" y="1508760"/>
            <a:ext cx="2377440" cy="274320"/>
          </a:xfrm>
          <a:prstGeom prst="rect">
            <a:avLst/>
          </a:prstGeom>
          <a:noFill/>
          <a:ln/>
        </p:spPr>
        <p:txBody>
          <a:bodyPr wrap="square" rtlCol="0" anchor="ctr"/>
          <a:lstStyle/>
          <a:p>
            <a:pPr algn="ctr" indent="0" marL="0">
              <a:buNone/>
            </a:pPr>
            <a:r>
              <a:rPr lang="en-US" sz="900" b="1" dirty="0">
                <a:solidFill>
                  <a:srgbClr val="A8C9C9"/>
                </a:solidFill>
                <a:latin typeface="Calibri" pitchFamily="34" charset="0"/>
                <a:ea typeface="Calibri" pitchFamily="34" charset="-122"/>
                <a:cs typeface="Calibri" pitchFamily="34" charset="-120"/>
              </a:rPr>
              <a:t>Recommended Capacity</a:t>
            </a:r>
            <a:endParaRPr lang="en-US" sz="900" dirty="0"/>
          </a:p>
        </p:txBody>
      </p:sp>
      <p:sp>
        <p:nvSpPr>
          <p:cNvPr id="20" name="Text 18"/>
          <p:cNvSpPr/>
          <p:nvPr/>
        </p:nvSpPr>
        <p:spPr>
          <a:xfrm>
            <a:off x="6327648" y="1783080"/>
            <a:ext cx="2468880" cy="411480"/>
          </a:xfrm>
          <a:prstGeom prst="rect">
            <a:avLst/>
          </a:prstGeom>
          <a:noFill/>
          <a:ln/>
        </p:spPr>
        <p:txBody>
          <a:bodyPr wrap="square" rtlCol="0" anchor="ctr"/>
          <a:lstStyle/>
          <a:p>
            <a:pPr algn="ctr" indent="0" marL="0">
              <a:buNone/>
            </a:pPr>
            <a:r>
              <a:rPr lang="en-US" sz="1700" b="1" dirty="0">
                <a:solidFill>
                  <a:srgbClr val="FFD54F"/>
                </a:solidFill>
                <a:latin typeface="Calibri" pitchFamily="34" charset="0"/>
                <a:ea typeface="Calibri" pitchFamily="34" charset="-122"/>
                <a:cs typeface="Calibri" pitchFamily="34" charset="-120"/>
              </a:rPr>
              <a:t>79.7 kWh/hr</a:t>
            </a:r>
            <a:endParaRPr lang="en-US" sz="1700" dirty="0"/>
          </a:p>
        </p:txBody>
      </p:sp>
      <p:sp>
        <p:nvSpPr>
          <p:cNvPr id="21" name="Text 19"/>
          <p:cNvSpPr/>
          <p:nvPr/>
        </p:nvSpPr>
        <p:spPr>
          <a:xfrm>
            <a:off x="6373368" y="2240280"/>
            <a:ext cx="2377440" cy="640080"/>
          </a:xfrm>
          <a:prstGeom prst="rect">
            <a:avLst/>
          </a:prstGeom>
          <a:noFill/>
          <a:ln/>
        </p:spPr>
        <p:txBody>
          <a:bodyPr wrap="square" rtlCol="0" anchor="ctr"/>
          <a:lstStyle/>
          <a:p>
            <a:pPr algn="ctr" indent="0" marL="0">
              <a:lnSpc>
                <a:spcPct val="135000"/>
              </a:lnSpc>
              <a:buNone/>
            </a:pPr>
            <a:r>
              <a:rPr lang="en-US" sz="750" dirty="0">
                <a:solidFill>
                  <a:srgbClr val="A8C9C9"/>
                </a:solidFill>
                <a:latin typeface="Calibri" pitchFamily="34" charset="0"/>
                <a:ea typeface="Calibri" pitchFamily="34" charset="-122"/>
                <a:cs typeface="Calibri" pitchFamily="34" charset="-120"/>
              </a:rPr>
              <a:t>95th percentile demand + 15% safety buffer per station network</a:t>
            </a:r>
            <a:endParaRPr lang="en-US" sz="750" dirty="0"/>
          </a:p>
        </p:txBody>
      </p:sp>
      <p:sp>
        <p:nvSpPr>
          <p:cNvPr id="22" name="Shape 20"/>
          <p:cNvSpPr/>
          <p:nvPr/>
        </p:nvSpPr>
        <p:spPr>
          <a:xfrm>
            <a:off x="457200" y="3108960"/>
            <a:ext cx="8229600" cy="1737360"/>
          </a:xfrm>
          <a:prstGeom prst="roundRect">
            <a:avLst>
              <a:gd name="adj" fmla="val 6316"/>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23" name="Text 21"/>
          <p:cNvSpPr/>
          <p:nvPr/>
        </p:nvSpPr>
        <p:spPr>
          <a:xfrm>
            <a:off x="640080" y="3154680"/>
            <a:ext cx="5486400" cy="201168"/>
          </a:xfrm>
          <a:prstGeom prst="rect">
            <a:avLst/>
          </a:prstGeom>
          <a:noFill/>
          <a:ln/>
        </p:spPr>
        <p:txBody>
          <a:bodyPr wrap="square" rtlCol="0" anchor="ctr"/>
          <a:lstStyle/>
          <a:p>
            <a:pPr indent="0" marL="0">
              <a:buNone/>
            </a:pPr>
            <a:r>
              <a:rPr lang="en-US" sz="700" b="1" spc="100" kern="0" dirty="0">
                <a:solidFill>
                  <a:srgbClr val="1E88E5"/>
                </a:solidFill>
                <a:latin typeface="Calibri" pitchFamily="34" charset="0"/>
                <a:ea typeface="Calibri" pitchFamily="34" charset="-122"/>
                <a:cs typeface="Calibri" pitchFamily="34" charset="-120"/>
              </a:rPr>
              <a:t>STRATEGIC ACTIONS</a:t>
            </a:r>
            <a:endParaRPr lang="en-US" sz="700" dirty="0"/>
          </a:p>
        </p:txBody>
      </p:sp>
      <p:sp>
        <p:nvSpPr>
          <p:cNvPr id="24" name="Shape 22"/>
          <p:cNvSpPr/>
          <p:nvPr/>
        </p:nvSpPr>
        <p:spPr>
          <a:xfrm>
            <a:off x="621792" y="3456432"/>
            <a:ext cx="182880" cy="182880"/>
          </a:xfrm>
          <a:prstGeom prst="ellipse">
            <a:avLst/>
          </a:prstGeom>
          <a:solidFill>
            <a:srgbClr val="00E396">
              <a:alpha val="50000"/>
            </a:srgbClr>
          </a:solidFill>
          <a:ln w="12700">
            <a:solidFill>
              <a:srgbClr val="00E396">
                <a:alpha val="70000"/>
              </a:srgbClr>
            </a:solidFill>
            <a:prstDash val="solid"/>
          </a:ln>
        </p:spPr>
      </p:sp>
      <p:sp>
        <p:nvSpPr>
          <p:cNvPr id="25" name="Text 23"/>
          <p:cNvSpPr/>
          <p:nvPr/>
        </p:nvSpPr>
        <p:spPr>
          <a:xfrm>
            <a:off x="896112" y="3429000"/>
            <a:ext cx="7498080" cy="256032"/>
          </a:xfrm>
          <a:prstGeom prst="rect">
            <a:avLst/>
          </a:prstGeom>
          <a:noFill/>
          <a:ln/>
        </p:spPr>
        <p:txBody>
          <a:bodyPr wrap="square" rtlCol="0" anchor="ctr"/>
          <a:lstStyle/>
          <a:p>
            <a:pPr indent="0" marL="0">
              <a:buNone/>
            </a:pPr>
            <a:r>
              <a:rPr lang="en-US" sz="850" dirty="0">
                <a:solidFill>
                  <a:srgbClr val="A8C9C9"/>
                </a:solidFill>
                <a:latin typeface="Calibri" pitchFamily="34" charset="0"/>
                <a:ea typeface="Calibri" pitchFamily="34" charset="-122"/>
                <a:cs typeface="Calibri" pitchFamily="34" charset="-120"/>
              </a:rPr>
              <a:t>Dynamic pricing: +20-30% during peak (4-7 PM), -15-20% during off-peak (12-3 AM)</a:t>
            </a:r>
            <a:endParaRPr lang="en-US" sz="850" dirty="0"/>
          </a:p>
        </p:txBody>
      </p:sp>
      <p:sp>
        <p:nvSpPr>
          <p:cNvPr id="26" name="Shape 24"/>
          <p:cNvSpPr/>
          <p:nvPr/>
        </p:nvSpPr>
        <p:spPr>
          <a:xfrm>
            <a:off x="621792" y="3749040"/>
            <a:ext cx="182880" cy="182880"/>
          </a:xfrm>
          <a:prstGeom prst="ellipse">
            <a:avLst/>
          </a:prstGeom>
          <a:solidFill>
            <a:srgbClr val="00E396">
              <a:alpha val="50000"/>
            </a:srgbClr>
          </a:solidFill>
          <a:ln w="12700">
            <a:solidFill>
              <a:srgbClr val="00E396">
                <a:alpha val="70000"/>
              </a:srgbClr>
            </a:solidFill>
            <a:prstDash val="solid"/>
          </a:ln>
        </p:spPr>
      </p:sp>
      <p:sp>
        <p:nvSpPr>
          <p:cNvPr id="27" name="Text 25"/>
          <p:cNvSpPr/>
          <p:nvPr/>
        </p:nvSpPr>
        <p:spPr>
          <a:xfrm>
            <a:off x="896112" y="3721608"/>
            <a:ext cx="7498080" cy="256032"/>
          </a:xfrm>
          <a:prstGeom prst="rect">
            <a:avLst/>
          </a:prstGeom>
          <a:noFill/>
          <a:ln/>
        </p:spPr>
        <p:txBody>
          <a:bodyPr wrap="square" rtlCol="0" anchor="ctr"/>
          <a:lstStyle/>
          <a:p>
            <a:pPr indent="0" marL="0">
              <a:buNone/>
            </a:pPr>
            <a:r>
              <a:rPr lang="en-US" sz="850" dirty="0">
                <a:solidFill>
                  <a:srgbClr val="A8C9C9"/>
                </a:solidFill>
                <a:latin typeface="Calibri" pitchFamily="34" charset="0"/>
                <a:ea typeface="Calibri" pitchFamily="34" charset="-122"/>
                <a:cs typeface="Calibri" pitchFamily="34" charset="-120"/>
              </a:rPr>
              <a:t>Schedule predictive maintenance during identified off-peak windows</a:t>
            </a:r>
            <a:endParaRPr lang="en-US" sz="850" dirty="0"/>
          </a:p>
        </p:txBody>
      </p:sp>
      <p:sp>
        <p:nvSpPr>
          <p:cNvPr id="28" name="Shape 26"/>
          <p:cNvSpPr/>
          <p:nvPr/>
        </p:nvSpPr>
        <p:spPr>
          <a:xfrm>
            <a:off x="621792" y="4041648"/>
            <a:ext cx="182880" cy="182880"/>
          </a:xfrm>
          <a:prstGeom prst="ellipse">
            <a:avLst/>
          </a:prstGeom>
          <a:solidFill>
            <a:srgbClr val="00E396">
              <a:alpha val="50000"/>
            </a:srgbClr>
          </a:solidFill>
          <a:ln w="12700">
            <a:solidFill>
              <a:srgbClr val="00E396">
                <a:alpha val="70000"/>
              </a:srgbClr>
            </a:solidFill>
            <a:prstDash val="solid"/>
          </a:ln>
        </p:spPr>
      </p:sp>
      <p:sp>
        <p:nvSpPr>
          <p:cNvPr id="29" name="Text 27"/>
          <p:cNvSpPr/>
          <p:nvPr/>
        </p:nvSpPr>
        <p:spPr>
          <a:xfrm>
            <a:off x="896112" y="4014216"/>
            <a:ext cx="7498080" cy="256032"/>
          </a:xfrm>
          <a:prstGeom prst="rect">
            <a:avLst/>
          </a:prstGeom>
          <a:noFill/>
          <a:ln/>
        </p:spPr>
        <p:txBody>
          <a:bodyPr wrap="square" rtlCol="0" anchor="ctr"/>
          <a:lstStyle/>
          <a:p>
            <a:pPr indent="0" marL="0">
              <a:buNone/>
            </a:pPr>
            <a:r>
              <a:rPr lang="en-US" sz="850" dirty="0">
                <a:solidFill>
                  <a:srgbClr val="A8C9C9"/>
                </a:solidFill>
                <a:latin typeface="Calibri" pitchFamily="34" charset="0"/>
                <a:ea typeface="Calibri" pitchFamily="34" charset="-122"/>
                <a:cs typeface="Calibri" pitchFamily="34" charset="-120"/>
              </a:rPr>
              <a:t>Coordinate with utility grid operators ahead of forecasted high-demand days</a:t>
            </a:r>
            <a:endParaRPr lang="en-US" sz="850" dirty="0"/>
          </a:p>
        </p:txBody>
      </p:sp>
      <p:sp>
        <p:nvSpPr>
          <p:cNvPr id="30" name="Shape 28"/>
          <p:cNvSpPr/>
          <p:nvPr/>
        </p:nvSpPr>
        <p:spPr>
          <a:xfrm>
            <a:off x="621792" y="4334256"/>
            <a:ext cx="182880" cy="182880"/>
          </a:xfrm>
          <a:prstGeom prst="ellipse">
            <a:avLst/>
          </a:prstGeom>
          <a:solidFill>
            <a:srgbClr val="00E396">
              <a:alpha val="50000"/>
            </a:srgbClr>
          </a:solidFill>
          <a:ln w="12700">
            <a:solidFill>
              <a:srgbClr val="00E396">
                <a:alpha val="70000"/>
              </a:srgbClr>
            </a:solidFill>
            <a:prstDash val="solid"/>
          </a:ln>
        </p:spPr>
      </p:sp>
      <p:sp>
        <p:nvSpPr>
          <p:cNvPr id="31" name="Text 29"/>
          <p:cNvSpPr/>
          <p:nvPr/>
        </p:nvSpPr>
        <p:spPr>
          <a:xfrm>
            <a:off x="896112" y="4306824"/>
            <a:ext cx="7498080" cy="256032"/>
          </a:xfrm>
          <a:prstGeom prst="rect">
            <a:avLst/>
          </a:prstGeom>
          <a:noFill/>
          <a:ln/>
        </p:spPr>
        <p:txBody>
          <a:bodyPr wrap="square" rtlCol="0" anchor="ctr"/>
          <a:lstStyle/>
          <a:p>
            <a:pPr indent="0" marL="0">
              <a:buNone/>
            </a:pPr>
            <a:r>
              <a:rPr lang="en-US" sz="850" dirty="0">
                <a:solidFill>
                  <a:srgbClr val="A8C9C9"/>
                </a:solidFill>
                <a:latin typeface="Calibri" pitchFamily="34" charset="0"/>
                <a:ea typeface="Calibri" pitchFamily="34" charset="-122"/>
                <a:cs typeface="Calibri" pitchFamily="34" charset="-120"/>
              </a:rPr>
              <a:t>Size new station rollouts to 80 kWh/hr capacity based on 95th percentile demand</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F1F"/>
          </a:solidFill>
          <a:ln w="12700">
            <a:solidFill>
              <a:srgbClr val="0A1F1F"/>
            </a:solidFill>
            <a:prstDash val="solid"/>
          </a:ln>
        </p:spPr>
      </p:sp>
      <p:sp>
        <p:nvSpPr>
          <p:cNvPr id="3" name="Shape 1"/>
          <p:cNvSpPr/>
          <p:nvPr/>
        </p:nvSpPr>
        <p:spPr>
          <a:xfrm>
            <a:off x="-1371600" y="-914400"/>
            <a:ext cx="4572000" cy="4572000"/>
          </a:xfrm>
          <a:prstGeom prst="ellipse">
            <a:avLst/>
          </a:prstGeom>
          <a:solidFill>
            <a:srgbClr val="00897B">
              <a:alpha val="12000"/>
            </a:srgbClr>
          </a:solidFill>
          <a:ln w="12700">
            <a:solidFill>
              <a:srgbClr val="00897B">
                <a:alpha val="12000"/>
              </a:srgbClr>
            </a:solidFill>
            <a:prstDash val="solid"/>
          </a:ln>
        </p:spPr>
      </p:sp>
      <p:sp>
        <p:nvSpPr>
          <p:cNvPr id="4" name="Shape 2"/>
          <p:cNvSpPr/>
          <p:nvPr/>
        </p:nvSpPr>
        <p:spPr>
          <a:xfrm>
            <a:off x="6400800" y="1828800"/>
            <a:ext cx="3657600" cy="3657600"/>
          </a:xfrm>
          <a:prstGeom prst="ellipse">
            <a:avLst/>
          </a:prstGeom>
          <a:solidFill>
            <a:srgbClr val="1E88E5">
              <a:alpha val="10000"/>
            </a:srgbClr>
          </a:solidFill>
          <a:ln w="12700">
            <a:solidFill>
              <a:srgbClr val="1E88E5">
                <a:alpha val="10000"/>
              </a:srgbClr>
            </a:solidFill>
            <a:prstDash val="solid"/>
          </a:ln>
        </p:spPr>
      </p:sp>
      <p:sp>
        <p:nvSpPr>
          <p:cNvPr id="5" name="Text 3"/>
          <p:cNvSpPr/>
          <p:nvPr/>
        </p:nvSpPr>
        <p:spPr>
          <a:xfrm>
            <a:off x="457200" y="256032"/>
            <a:ext cx="5486400" cy="201168"/>
          </a:xfrm>
          <a:prstGeom prst="rect">
            <a:avLst/>
          </a:prstGeom>
          <a:noFill/>
          <a:ln/>
        </p:spPr>
        <p:txBody>
          <a:bodyPr wrap="square" rtlCol="0" anchor="ctr"/>
          <a:lstStyle/>
          <a:p>
            <a:pPr indent="0" marL="0">
              <a:buNone/>
            </a:pPr>
            <a:r>
              <a:rPr lang="en-US" sz="700" b="1" spc="200" kern="0" dirty="0">
                <a:solidFill>
                  <a:srgbClr val="1E88E5"/>
                </a:solidFill>
                <a:latin typeface="Calibri" pitchFamily="34" charset="0"/>
                <a:ea typeface="Calibri" pitchFamily="34" charset="-122"/>
                <a:cs typeface="Calibri" pitchFamily="34" charset="-120"/>
              </a:rPr>
              <a:t>PROJECT DELIVERABLES</a:t>
            </a:r>
            <a:endParaRPr lang="en-US" sz="700" dirty="0"/>
          </a:p>
        </p:txBody>
      </p:sp>
      <p:sp>
        <p:nvSpPr>
          <p:cNvPr id="6" name="Text 4"/>
          <p:cNvSpPr/>
          <p:nvPr/>
        </p:nvSpPr>
        <p:spPr>
          <a:xfrm>
            <a:off x="457200" y="41148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Tech Stack &amp; Final Outputs</a:t>
            </a:r>
            <a:endParaRPr lang="en-US" sz="2200" dirty="0"/>
          </a:p>
        </p:txBody>
      </p:sp>
      <p:sp>
        <p:nvSpPr>
          <p:cNvPr id="7" name="Shape 5"/>
          <p:cNvSpPr/>
          <p:nvPr/>
        </p:nvSpPr>
        <p:spPr>
          <a:xfrm>
            <a:off x="457200" y="987552"/>
            <a:ext cx="2651760" cy="1005840"/>
          </a:xfrm>
          <a:prstGeom prst="roundRect">
            <a:avLst>
              <a:gd name="adj" fmla="val 10909"/>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8" name="Text 6"/>
          <p:cNvSpPr/>
          <p:nvPr/>
        </p:nvSpPr>
        <p:spPr>
          <a:xfrm>
            <a:off x="594360" y="1097280"/>
            <a:ext cx="457200" cy="457200"/>
          </a:xfrm>
          <a:prstGeom prst="rect">
            <a:avLst/>
          </a:prstGeom>
          <a:noFill/>
          <a:ln/>
        </p:spPr>
        <p:txBody>
          <a:bodyPr wrap="square" rtlCol="0" anchor="ctr"/>
          <a:lstStyle/>
          <a:p>
            <a:pP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9" name="Text 7"/>
          <p:cNvSpPr/>
          <p:nvPr/>
        </p:nvSpPr>
        <p:spPr>
          <a:xfrm>
            <a:off x="1115568" y="1097280"/>
            <a:ext cx="1828800" cy="274320"/>
          </a:xfrm>
          <a:prstGeom prst="rect">
            <a:avLst/>
          </a:prstGeom>
          <a:noFill/>
          <a:ln/>
        </p:spPr>
        <p:txBody>
          <a:bodyPr wrap="square" rtlCol="0" anchor="ctr"/>
          <a:lstStyle/>
          <a:p>
            <a:pPr indent="0" marL="0">
              <a:buNone/>
            </a:pPr>
            <a:r>
              <a:rPr lang="en-US" sz="950" b="1" dirty="0">
                <a:solidFill>
                  <a:srgbClr val="FFD54F"/>
                </a:solidFill>
                <a:latin typeface="Calibri" pitchFamily="34" charset="0"/>
                <a:ea typeface="Calibri" pitchFamily="34" charset="-122"/>
                <a:cs typeface="Calibri" pitchFamily="34" charset="-120"/>
              </a:rPr>
              <a:t>Python 3.9</a:t>
            </a:r>
            <a:endParaRPr lang="en-US" sz="950" dirty="0"/>
          </a:p>
        </p:txBody>
      </p:sp>
      <p:sp>
        <p:nvSpPr>
          <p:cNvPr id="10" name="Text 8"/>
          <p:cNvSpPr/>
          <p:nvPr/>
        </p:nvSpPr>
        <p:spPr>
          <a:xfrm>
            <a:off x="1115568" y="1389888"/>
            <a:ext cx="1828800" cy="274320"/>
          </a:xfrm>
          <a:prstGeom prst="rect">
            <a:avLst/>
          </a:prstGeom>
          <a:noFill/>
          <a:ln/>
        </p:spPr>
        <p:txBody>
          <a:bodyPr wrap="square" rtlCol="0" anchor="ctr"/>
          <a:lstStyle/>
          <a:p>
            <a:pPr indent="0" marL="0">
              <a:buNone/>
            </a:pPr>
            <a:r>
              <a:rPr lang="en-US" sz="800" dirty="0">
                <a:solidFill>
                  <a:srgbClr val="A8C9C9"/>
                </a:solidFill>
                <a:latin typeface="Calibri" pitchFamily="34" charset="0"/>
                <a:ea typeface="Calibri" pitchFamily="34" charset="-122"/>
                <a:cs typeface="Calibri" pitchFamily="34" charset="-120"/>
              </a:rPr>
              <a:t>Core language</a:t>
            </a:r>
            <a:endParaRPr lang="en-US" sz="800" dirty="0"/>
          </a:p>
        </p:txBody>
      </p:sp>
      <p:sp>
        <p:nvSpPr>
          <p:cNvPr id="11" name="Shape 9"/>
          <p:cNvSpPr/>
          <p:nvPr/>
        </p:nvSpPr>
        <p:spPr>
          <a:xfrm>
            <a:off x="3346704" y="987552"/>
            <a:ext cx="2651760" cy="1005840"/>
          </a:xfrm>
          <a:prstGeom prst="roundRect">
            <a:avLst>
              <a:gd name="adj" fmla="val 10909"/>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12" name="Text 10"/>
          <p:cNvSpPr/>
          <p:nvPr/>
        </p:nvSpPr>
        <p:spPr>
          <a:xfrm>
            <a:off x="3483864" y="1097280"/>
            <a:ext cx="457200" cy="457200"/>
          </a:xfrm>
          <a:prstGeom prst="rect">
            <a:avLst/>
          </a:prstGeom>
          <a:noFill/>
          <a:ln/>
        </p:spPr>
        <p:txBody>
          <a:bodyPr wrap="square" rtlCol="0" anchor="ctr"/>
          <a:lstStyle/>
          <a:p>
            <a:pP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4005072" y="1097280"/>
            <a:ext cx="1828800" cy="274320"/>
          </a:xfrm>
          <a:prstGeom prst="rect">
            <a:avLst/>
          </a:prstGeom>
          <a:noFill/>
          <a:ln/>
        </p:spPr>
        <p:txBody>
          <a:bodyPr wrap="square" rtlCol="0" anchor="ctr"/>
          <a:lstStyle/>
          <a:p>
            <a:pPr indent="0" marL="0">
              <a:buNone/>
            </a:pPr>
            <a:r>
              <a:rPr lang="en-US" sz="950" b="1" dirty="0">
                <a:solidFill>
                  <a:srgbClr val="1E88E5"/>
                </a:solidFill>
                <a:latin typeface="Calibri" pitchFamily="34" charset="0"/>
                <a:ea typeface="Calibri" pitchFamily="34" charset="-122"/>
                <a:cs typeface="Calibri" pitchFamily="34" charset="-120"/>
              </a:rPr>
              <a:t>Pandas</a:t>
            </a:r>
            <a:endParaRPr lang="en-US" sz="950" dirty="0"/>
          </a:p>
        </p:txBody>
      </p:sp>
      <p:sp>
        <p:nvSpPr>
          <p:cNvPr id="14" name="Text 12"/>
          <p:cNvSpPr/>
          <p:nvPr/>
        </p:nvSpPr>
        <p:spPr>
          <a:xfrm>
            <a:off x="4005072" y="1389888"/>
            <a:ext cx="1828800" cy="274320"/>
          </a:xfrm>
          <a:prstGeom prst="rect">
            <a:avLst/>
          </a:prstGeom>
          <a:noFill/>
          <a:ln/>
        </p:spPr>
        <p:txBody>
          <a:bodyPr wrap="square" rtlCol="0" anchor="ctr"/>
          <a:lstStyle/>
          <a:p>
            <a:pPr indent="0" marL="0">
              <a:buNone/>
            </a:pPr>
            <a:r>
              <a:rPr lang="en-US" sz="800" dirty="0">
                <a:solidFill>
                  <a:srgbClr val="A8C9C9"/>
                </a:solidFill>
                <a:latin typeface="Calibri" pitchFamily="34" charset="0"/>
                <a:ea typeface="Calibri" pitchFamily="34" charset="-122"/>
                <a:cs typeface="Calibri" pitchFamily="34" charset="-120"/>
              </a:rPr>
              <a:t>Data merging &amp; cleaning</a:t>
            </a:r>
            <a:endParaRPr lang="en-US" sz="800" dirty="0"/>
          </a:p>
        </p:txBody>
      </p:sp>
      <p:sp>
        <p:nvSpPr>
          <p:cNvPr id="15" name="Shape 13"/>
          <p:cNvSpPr/>
          <p:nvPr/>
        </p:nvSpPr>
        <p:spPr>
          <a:xfrm>
            <a:off x="6236208" y="987552"/>
            <a:ext cx="2651760" cy="1005840"/>
          </a:xfrm>
          <a:prstGeom prst="roundRect">
            <a:avLst>
              <a:gd name="adj" fmla="val 10909"/>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16" name="Text 14"/>
          <p:cNvSpPr/>
          <p:nvPr/>
        </p:nvSpPr>
        <p:spPr>
          <a:xfrm>
            <a:off x="6373368" y="1097280"/>
            <a:ext cx="457200" cy="457200"/>
          </a:xfrm>
          <a:prstGeom prst="rect">
            <a:avLst/>
          </a:prstGeom>
          <a:noFill/>
          <a:ln/>
        </p:spPr>
        <p:txBody>
          <a:bodyPr wrap="square" rtlCol="0" anchor="ctr"/>
          <a:lstStyle/>
          <a:p>
            <a:pP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6894576" y="1097280"/>
            <a:ext cx="1828800" cy="274320"/>
          </a:xfrm>
          <a:prstGeom prst="rect">
            <a:avLst/>
          </a:prstGeom>
          <a:noFill/>
          <a:ln/>
        </p:spPr>
        <p:txBody>
          <a:bodyPr wrap="square" rtlCol="0" anchor="ctr"/>
          <a:lstStyle/>
          <a:p>
            <a:pPr indent="0" marL="0">
              <a:buNone/>
            </a:pPr>
            <a:r>
              <a:rPr lang="en-US" sz="950" b="1" dirty="0">
                <a:solidFill>
                  <a:srgbClr val="00E396"/>
                </a:solidFill>
                <a:latin typeface="Calibri" pitchFamily="34" charset="0"/>
                <a:ea typeface="Calibri" pitchFamily="34" charset="-122"/>
                <a:cs typeface="Calibri" pitchFamily="34" charset="-120"/>
              </a:rPr>
              <a:t>Prophet / ARIMA</a:t>
            </a:r>
            <a:endParaRPr lang="en-US" sz="950" dirty="0"/>
          </a:p>
        </p:txBody>
      </p:sp>
      <p:sp>
        <p:nvSpPr>
          <p:cNvPr id="18" name="Text 16"/>
          <p:cNvSpPr/>
          <p:nvPr/>
        </p:nvSpPr>
        <p:spPr>
          <a:xfrm>
            <a:off x="6894576" y="1389888"/>
            <a:ext cx="1828800" cy="274320"/>
          </a:xfrm>
          <a:prstGeom prst="rect">
            <a:avLst/>
          </a:prstGeom>
          <a:noFill/>
          <a:ln/>
        </p:spPr>
        <p:txBody>
          <a:bodyPr wrap="square" rtlCol="0" anchor="ctr"/>
          <a:lstStyle/>
          <a:p>
            <a:pPr indent="0" marL="0">
              <a:buNone/>
            </a:pPr>
            <a:r>
              <a:rPr lang="en-US" sz="800" dirty="0">
                <a:solidFill>
                  <a:srgbClr val="A8C9C9"/>
                </a:solidFill>
                <a:latin typeface="Calibri" pitchFamily="34" charset="0"/>
                <a:ea typeface="Calibri" pitchFamily="34" charset="-122"/>
                <a:cs typeface="Calibri" pitchFamily="34" charset="-120"/>
              </a:rPr>
              <a:t>Time-series forecasting</a:t>
            </a:r>
            <a:endParaRPr lang="en-US" sz="800" dirty="0"/>
          </a:p>
        </p:txBody>
      </p:sp>
      <p:sp>
        <p:nvSpPr>
          <p:cNvPr id="19" name="Shape 17"/>
          <p:cNvSpPr/>
          <p:nvPr/>
        </p:nvSpPr>
        <p:spPr>
          <a:xfrm>
            <a:off x="457200" y="2157984"/>
            <a:ext cx="2651760" cy="1005840"/>
          </a:xfrm>
          <a:prstGeom prst="roundRect">
            <a:avLst>
              <a:gd name="adj" fmla="val 10909"/>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20" name="Text 18"/>
          <p:cNvSpPr/>
          <p:nvPr/>
        </p:nvSpPr>
        <p:spPr>
          <a:xfrm>
            <a:off x="594360" y="2267712"/>
            <a:ext cx="457200" cy="457200"/>
          </a:xfrm>
          <a:prstGeom prst="rect">
            <a:avLst/>
          </a:prstGeom>
          <a:noFill/>
          <a:ln/>
        </p:spPr>
        <p:txBody>
          <a:bodyPr wrap="square" rtlCol="0" anchor="ctr"/>
          <a:lstStyle/>
          <a:p>
            <a:pP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1" name="Text 19"/>
          <p:cNvSpPr/>
          <p:nvPr/>
        </p:nvSpPr>
        <p:spPr>
          <a:xfrm>
            <a:off x="1115568" y="2267712"/>
            <a:ext cx="1828800" cy="274320"/>
          </a:xfrm>
          <a:prstGeom prst="rect">
            <a:avLst/>
          </a:prstGeom>
          <a:noFill/>
          <a:ln/>
        </p:spPr>
        <p:txBody>
          <a:bodyPr wrap="square" rtlCol="0" anchor="ctr"/>
          <a:lstStyle/>
          <a:p>
            <a:pPr indent="0" marL="0">
              <a:buNone/>
            </a:pPr>
            <a:r>
              <a:rPr lang="en-US" sz="950" b="1" dirty="0">
                <a:solidFill>
                  <a:srgbClr val="00897B"/>
                </a:solidFill>
                <a:latin typeface="Calibri" pitchFamily="34" charset="0"/>
                <a:ea typeface="Calibri" pitchFamily="34" charset="-122"/>
                <a:cs typeface="Calibri" pitchFamily="34" charset="-120"/>
              </a:rPr>
              <a:t>Scikit-learn</a:t>
            </a:r>
            <a:endParaRPr lang="en-US" sz="950" dirty="0"/>
          </a:p>
        </p:txBody>
      </p:sp>
      <p:sp>
        <p:nvSpPr>
          <p:cNvPr id="22" name="Text 20"/>
          <p:cNvSpPr/>
          <p:nvPr/>
        </p:nvSpPr>
        <p:spPr>
          <a:xfrm>
            <a:off x="1115568" y="2560320"/>
            <a:ext cx="1828800" cy="274320"/>
          </a:xfrm>
          <a:prstGeom prst="rect">
            <a:avLst/>
          </a:prstGeom>
          <a:noFill/>
          <a:ln/>
        </p:spPr>
        <p:txBody>
          <a:bodyPr wrap="square" rtlCol="0" anchor="ctr"/>
          <a:lstStyle/>
          <a:p>
            <a:pPr indent="0" marL="0">
              <a:buNone/>
            </a:pPr>
            <a:r>
              <a:rPr lang="en-US" sz="800" dirty="0">
                <a:solidFill>
                  <a:srgbClr val="A8C9C9"/>
                </a:solidFill>
                <a:latin typeface="Calibri" pitchFamily="34" charset="0"/>
                <a:ea typeface="Calibri" pitchFamily="34" charset="-122"/>
                <a:cs typeface="Calibri" pitchFamily="34" charset="-120"/>
              </a:rPr>
              <a:t>Validation metrics</a:t>
            </a:r>
            <a:endParaRPr lang="en-US" sz="800" dirty="0"/>
          </a:p>
        </p:txBody>
      </p:sp>
      <p:sp>
        <p:nvSpPr>
          <p:cNvPr id="23" name="Shape 21"/>
          <p:cNvSpPr/>
          <p:nvPr/>
        </p:nvSpPr>
        <p:spPr>
          <a:xfrm>
            <a:off x="3346704" y="2157984"/>
            <a:ext cx="2651760" cy="1005840"/>
          </a:xfrm>
          <a:prstGeom prst="roundRect">
            <a:avLst>
              <a:gd name="adj" fmla="val 10909"/>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24" name="Text 22"/>
          <p:cNvSpPr/>
          <p:nvPr/>
        </p:nvSpPr>
        <p:spPr>
          <a:xfrm>
            <a:off x="3483864" y="2267712"/>
            <a:ext cx="457200" cy="457200"/>
          </a:xfrm>
          <a:prstGeom prst="rect">
            <a:avLst/>
          </a:prstGeom>
          <a:noFill/>
          <a:ln/>
        </p:spPr>
        <p:txBody>
          <a:bodyPr wrap="square" rtlCol="0" anchor="ctr"/>
          <a:lstStyle/>
          <a:p>
            <a:pP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5" name="Text 23"/>
          <p:cNvSpPr/>
          <p:nvPr/>
        </p:nvSpPr>
        <p:spPr>
          <a:xfrm>
            <a:off x="4005072" y="2267712"/>
            <a:ext cx="1828800" cy="274320"/>
          </a:xfrm>
          <a:prstGeom prst="rect">
            <a:avLst/>
          </a:prstGeom>
          <a:noFill/>
          <a:ln/>
        </p:spPr>
        <p:txBody>
          <a:bodyPr wrap="square" rtlCol="0" anchor="ctr"/>
          <a:lstStyle/>
          <a:p>
            <a:pPr indent="0" marL="0">
              <a:buNone/>
            </a:pPr>
            <a:r>
              <a:rPr lang="en-US" sz="950" b="1" dirty="0">
                <a:solidFill>
                  <a:srgbClr val="FF9800"/>
                </a:solidFill>
                <a:latin typeface="Calibri" pitchFamily="34" charset="0"/>
                <a:ea typeface="Calibri" pitchFamily="34" charset="-122"/>
                <a:cs typeface="Calibri" pitchFamily="34" charset="-120"/>
              </a:rPr>
              <a:t>Tableau</a:t>
            </a:r>
            <a:endParaRPr lang="en-US" sz="950" dirty="0"/>
          </a:p>
        </p:txBody>
      </p:sp>
      <p:sp>
        <p:nvSpPr>
          <p:cNvPr id="26" name="Text 24"/>
          <p:cNvSpPr/>
          <p:nvPr/>
        </p:nvSpPr>
        <p:spPr>
          <a:xfrm>
            <a:off x="4005072" y="2560320"/>
            <a:ext cx="1828800" cy="274320"/>
          </a:xfrm>
          <a:prstGeom prst="rect">
            <a:avLst/>
          </a:prstGeom>
          <a:noFill/>
          <a:ln/>
        </p:spPr>
        <p:txBody>
          <a:bodyPr wrap="square" rtlCol="0" anchor="ctr"/>
          <a:lstStyle/>
          <a:p>
            <a:pPr indent="0" marL="0">
              <a:buNone/>
            </a:pPr>
            <a:r>
              <a:rPr lang="en-US" sz="800" dirty="0">
                <a:solidFill>
                  <a:srgbClr val="A8C9C9"/>
                </a:solidFill>
                <a:latin typeface="Calibri" pitchFamily="34" charset="0"/>
                <a:ea typeface="Calibri" pitchFamily="34" charset="-122"/>
                <a:cs typeface="Calibri" pitchFamily="34" charset="-120"/>
              </a:rPr>
              <a:t>Heatmap dashboard</a:t>
            </a:r>
            <a:endParaRPr lang="en-US" sz="800" dirty="0"/>
          </a:p>
        </p:txBody>
      </p:sp>
      <p:sp>
        <p:nvSpPr>
          <p:cNvPr id="27" name="Shape 25"/>
          <p:cNvSpPr/>
          <p:nvPr/>
        </p:nvSpPr>
        <p:spPr>
          <a:xfrm>
            <a:off x="6236208" y="2157984"/>
            <a:ext cx="2651760" cy="1005840"/>
          </a:xfrm>
          <a:prstGeom prst="roundRect">
            <a:avLst>
              <a:gd name="adj" fmla="val 10909"/>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28" name="Text 26"/>
          <p:cNvSpPr/>
          <p:nvPr/>
        </p:nvSpPr>
        <p:spPr>
          <a:xfrm>
            <a:off x="6373368" y="2267712"/>
            <a:ext cx="457200" cy="457200"/>
          </a:xfrm>
          <a:prstGeom prst="rect">
            <a:avLst/>
          </a:prstGeom>
          <a:noFill/>
          <a:ln/>
        </p:spPr>
        <p:txBody>
          <a:bodyPr wrap="square" rtlCol="0" anchor="ctr"/>
          <a:lstStyle/>
          <a:p>
            <a:pPr indent="0" marL="0">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9" name="Text 27"/>
          <p:cNvSpPr/>
          <p:nvPr/>
        </p:nvSpPr>
        <p:spPr>
          <a:xfrm>
            <a:off x="6894576" y="2267712"/>
            <a:ext cx="1828800" cy="274320"/>
          </a:xfrm>
          <a:prstGeom prst="rect">
            <a:avLst/>
          </a:prstGeom>
          <a:noFill/>
          <a:ln/>
        </p:spPr>
        <p:txBody>
          <a:bodyPr wrap="square" rtlCol="0" anchor="ctr"/>
          <a:lstStyle/>
          <a:p>
            <a:pPr indent="0" marL="0">
              <a:buNone/>
            </a:pPr>
            <a:r>
              <a:rPr lang="en-US" sz="950" b="1" dirty="0">
                <a:solidFill>
                  <a:srgbClr val="FF6E6E"/>
                </a:solidFill>
                <a:latin typeface="Calibri" pitchFamily="34" charset="0"/>
                <a:ea typeface="Calibri" pitchFamily="34" charset="-122"/>
                <a:cs typeface="Calibri" pitchFamily="34" charset="-120"/>
              </a:rPr>
              <a:t>Streamlit</a:t>
            </a:r>
            <a:endParaRPr lang="en-US" sz="950" dirty="0"/>
          </a:p>
        </p:txBody>
      </p:sp>
      <p:sp>
        <p:nvSpPr>
          <p:cNvPr id="30" name="Text 28"/>
          <p:cNvSpPr/>
          <p:nvPr/>
        </p:nvSpPr>
        <p:spPr>
          <a:xfrm>
            <a:off x="6894576" y="2560320"/>
            <a:ext cx="1828800" cy="274320"/>
          </a:xfrm>
          <a:prstGeom prst="rect">
            <a:avLst/>
          </a:prstGeom>
          <a:noFill/>
          <a:ln/>
        </p:spPr>
        <p:txBody>
          <a:bodyPr wrap="square" rtlCol="0" anchor="ctr"/>
          <a:lstStyle/>
          <a:p>
            <a:pPr indent="0" marL="0">
              <a:buNone/>
            </a:pPr>
            <a:r>
              <a:rPr lang="en-US" sz="800" dirty="0">
                <a:solidFill>
                  <a:srgbClr val="A8C9C9"/>
                </a:solidFill>
                <a:latin typeface="Calibri" pitchFamily="34" charset="0"/>
                <a:ea typeface="Calibri" pitchFamily="34" charset="-122"/>
                <a:cs typeface="Calibri" pitchFamily="34" charset="-120"/>
              </a:rPr>
              <a:t>Live forecast dashboard</a:t>
            </a:r>
            <a:endParaRPr lang="en-US" sz="800" dirty="0"/>
          </a:p>
        </p:txBody>
      </p:sp>
      <p:sp>
        <p:nvSpPr>
          <p:cNvPr id="31" name="Shape 29"/>
          <p:cNvSpPr/>
          <p:nvPr/>
        </p:nvSpPr>
        <p:spPr>
          <a:xfrm>
            <a:off x="457200" y="3383280"/>
            <a:ext cx="8229600" cy="1463040"/>
          </a:xfrm>
          <a:prstGeom prst="roundRect">
            <a:avLst>
              <a:gd name="adj" fmla="val 7500"/>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32" name="Text 30"/>
          <p:cNvSpPr/>
          <p:nvPr/>
        </p:nvSpPr>
        <p:spPr>
          <a:xfrm>
            <a:off x="640080" y="3429000"/>
            <a:ext cx="4572000" cy="201168"/>
          </a:xfrm>
          <a:prstGeom prst="rect">
            <a:avLst/>
          </a:prstGeom>
          <a:noFill/>
          <a:ln/>
        </p:spPr>
        <p:txBody>
          <a:bodyPr wrap="square" rtlCol="0" anchor="ctr"/>
          <a:lstStyle/>
          <a:p>
            <a:pPr indent="0" marL="0">
              <a:buNone/>
            </a:pPr>
            <a:r>
              <a:rPr lang="en-US" sz="700" b="1" spc="100" kern="0" dirty="0">
                <a:solidFill>
                  <a:srgbClr val="1E88E5"/>
                </a:solidFill>
                <a:latin typeface="Calibri" pitchFamily="34" charset="0"/>
                <a:ea typeface="Calibri" pitchFamily="34" charset="-122"/>
                <a:cs typeface="Calibri" pitchFamily="34" charset="-120"/>
              </a:rPr>
              <a:t>FINAL DELIVERABLES</a:t>
            </a:r>
            <a:endParaRPr lang="en-US" sz="700" dirty="0"/>
          </a:p>
        </p:txBody>
      </p:sp>
      <p:sp>
        <p:nvSpPr>
          <p:cNvPr id="33" name="Text 31"/>
          <p:cNvSpPr/>
          <p:nvPr/>
        </p:nvSpPr>
        <p:spPr>
          <a:xfrm>
            <a:off x="621792" y="3712464"/>
            <a:ext cx="38404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 EV_Charging_Demand_Forecasting.ipynb</a:t>
            </a:r>
            <a:endParaRPr lang="en-US" sz="850" dirty="0"/>
          </a:p>
        </p:txBody>
      </p:sp>
      <p:sp>
        <p:nvSpPr>
          <p:cNvPr id="34" name="Text 32"/>
          <p:cNvSpPr/>
          <p:nvPr/>
        </p:nvSpPr>
        <p:spPr>
          <a:xfrm>
            <a:off x="621792" y="3913632"/>
            <a:ext cx="3840480" cy="182880"/>
          </a:xfrm>
          <a:prstGeom prst="rect">
            <a:avLst/>
          </a:prstGeom>
          <a:noFill/>
          <a:ln/>
        </p:spPr>
        <p:txBody>
          <a:bodyPr wrap="square" rtlCol="0" anchor="ctr"/>
          <a:lstStyle/>
          <a:p>
            <a:pPr indent="0" marL="0">
              <a:buNone/>
            </a:pPr>
            <a:r>
              <a:rPr lang="en-US" sz="750" dirty="0">
                <a:solidFill>
                  <a:srgbClr val="A8C9C9"/>
                </a:solidFill>
                <a:latin typeface="Calibri" pitchFamily="34" charset="0"/>
                <a:ea typeface="Calibri" pitchFamily="34" charset="-122"/>
                <a:cs typeface="Calibri" pitchFamily="34" charset="-120"/>
              </a:rPr>
              <a:t>Full notebook — Prophet + ARIMA models</a:t>
            </a:r>
            <a:endParaRPr lang="en-US" sz="750" dirty="0"/>
          </a:p>
        </p:txBody>
      </p:sp>
      <p:sp>
        <p:nvSpPr>
          <p:cNvPr id="35" name="Text 33"/>
          <p:cNvSpPr/>
          <p:nvPr/>
        </p:nvSpPr>
        <p:spPr>
          <a:xfrm>
            <a:off x="621792" y="4206240"/>
            <a:ext cx="38404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 EV_Excel_Report.xlsx</a:t>
            </a:r>
            <a:endParaRPr lang="en-US" sz="850" dirty="0"/>
          </a:p>
        </p:txBody>
      </p:sp>
      <p:sp>
        <p:nvSpPr>
          <p:cNvPr id="36" name="Text 34"/>
          <p:cNvSpPr/>
          <p:nvPr/>
        </p:nvSpPr>
        <p:spPr>
          <a:xfrm>
            <a:off x="621792" y="4407408"/>
            <a:ext cx="3840480" cy="182880"/>
          </a:xfrm>
          <a:prstGeom prst="rect">
            <a:avLst/>
          </a:prstGeom>
          <a:noFill/>
          <a:ln/>
        </p:spPr>
        <p:txBody>
          <a:bodyPr wrap="square" rtlCol="0" anchor="ctr"/>
          <a:lstStyle/>
          <a:p>
            <a:pPr indent="0" marL="0">
              <a:buNone/>
            </a:pPr>
            <a:r>
              <a:rPr lang="en-US" sz="750" dirty="0">
                <a:solidFill>
                  <a:srgbClr val="A8C9C9"/>
                </a:solidFill>
                <a:latin typeface="Calibri" pitchFamily="34" charset="0"/>
                <a:ea typeface="Calibri" pitchFamily="34" charset="-122"/>
                <a:cs typeface="Calibri" pitchFamily="34" charset="-120"/>
              </a:rPr>
              <a:t>5-sheet Excel: data, heatmap, forecast, comparison, strategy</a:t>
            </a:r>
            <a:endParaRPr lang="en-US" sz="750" dirty="0"/>
          </a:p>
        </p:txBody>
      </p:sp>
      <p:sp>
        <p:nvSpPr>
          <p:cNvPr id="37" name="Text 35"/>
          <p:cNvSpPr/>
          <p:nvPr/>
        </p:nvSpPr>
        <p:spPr>
          <a:xfrm>
            <a:off x="4736592" y="3712464"/>
            <a:ext cx="38404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 app.py</a:t>
            </a:r>
            <a:endParaRPr lang="en-US" sz="850" dirty="0"/>
          </a:p>
        </p:txBody>
      </p:sp>
      <p:sp>
        <p:nvSpPr>
          <p:cNvPr id="38" name="Text 36"/>
          <p:cNvSpPr/>
          <p:nvPr/>
        </p:nvSpPr>
        <p:spPr>
          <a:xfrm>
            <a:off x="4736592" y="3913632"/>
            <a:ext cx="3840480" cy="182880"/>
          </a:xfrm>
          <a:prstGeom prst="rect">
            <a:avLst/>
          </a:prstGeom>
          <a:noFill/>
          <a:ln/>
        </p:spPr>
        <p:txBody>
          <a:bodyPr wrap="square" rtlCol="0" anchor="ctr"/>
          <a:lstStyle/>
          <a:p>
            <a:pPr indent="0" marL="0">
              <a:buNone/>
            </a:pPr>
            <a:r>
              <a:rPr lang="en-US" sz="750" dirty="0">
                <a:solidFill>
                  <a:srgbClr val="A8C9C9"/>
                </a:solidFill>
                <a:latin typeface="Calibri" pitchFamily="34" charset="0"/>
                <a:ea typeface="Calibri" pitchFamily="34" charset="-122"/>
                <a:cs typeface="Calibri" pitchFamily="34" charset="-120"/>
              </a:rPr>
              <a:t>Streamlit live forecast dashboard</a:t>
            </a:r>
            <a:endParaRPr lang="en-US" sz="750" dirty="0"/>
          </a:p>
        </p:txBody>
      </p:sp>
      <p:sp>
        <p:nvSpPr>
          <p:cNvPr id="39" name="Text 37"/>
          <p:cNvSpPr/>
          <p:nvPr/>
        </p:nvSpPr>
        <p:spPr>
          <a:xfrm>
            <a:off x="4736592" y="4206240"/>
            <a:ext cx="38404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 Tableau_Heatmap_Data.csv</a:t>
            </a:r>
            <a:endParaRPr lang="en-US" sz="850" dirty="0"/>
          </a:p>
        </p:txBody>
      </p:sp>
      <p:sp>
        <p:nvSpPr>
          <p:cNvPr id="40" name="Text 38"/>
          <p:cNvSpPr/>
          <p:nvPr/>
        </p:nvSpPr>
        <p:spPr>
          <a:xfrm>
            <a:off x="4736592" y="4407408"/>
            <a:ext cx="3840480" cy="182880"/>
          </a:xfrm>
          <a:prstGeom prst="rect">
            <a:avLst/>
          </a:prstGeom>
          <a:noFill/>
          <a:ln/>
        </p:spPr>
        <p:txBody>
          <a:bodyPr wrap="square" rtlCol="0" anchor="ctr"/>
          <a:lstStyle/>
          <a:p>
            <a:pPr indent="0" marL="0">
              <a:buNone/>
            </a:pPr>
            <a:r>
              <a:rPr lang="en-US" sz="750" dirty="0">
                <a:solidFill>
                  <a:srgbClr val="A8C9C9"/>
                </a:solidFill>
                <a:latin typeface="Calibri" pitchFamily="34" charset="0"/>
                <a:ea typeface="Calibri" pitchFamily="34" charset="-122"/>
                <a:cs typeface="Calibri" pitchFamily="34" charset="-120"/>
              </a:rPr>
              <a:t>Ready-to-import Tableau heatmap data</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F1F"/>
          </a:solidFill>
          <a:ln w="12700">
            <a:solidFill>
              <a:srgbClr val="0A1F1F"/>
            </a:solidFill>
            <a:prstDash val="solid"/>
          </a:ln>
        </p:spPr>
      </p:sp>
      <p:sp>
        <p:nvSpPr>
          <p:cNvPr id="3" name="Shape 1"/>
          <p:cNvSpPr/>
          <p:nvPr/>
        </p:nvSpPr>
        <p:spPr>
          <a:xfrm>
            <a:off x="-1371600" y="-914400"/>
            <a:ext cx="4572000" cy="4572000"/>
          </a:xfrm>
          <a:prstGeom prst="ellipse">
            <a:avLst/>
          </a:prstGeom>
          <a:solidFill>
            <a:srgbClr val="00897B">
              <a:alpha val="12000"/>
            </a:srgbClr>
          </a:solidFill>
          <a:ln w="12700">
            <a:solidFill>
              <a:srgbClr val="00897B">
                <a:alpha val="12000"/>
              </a:srgbClr>
            </a:solidFill>
            <a:prstDash val="solid"/>
          </a:ln>
        </p:spPr>
      </p:sp>
      <p:sp>
        <p:nvSpPr>
          <p:cNvPr id="4" name="Shape 2"/>
          <p:cNvSpPr/>
          <p:nvPr/>
        </p:nvSpPr>
        <p:spPr>
          <a:xfrm>
            <a:off x="6400800" y="1828800"/>
            <a:ext cx="3657600" cy="3657600"/>
          </a:xfrm>
          <a:prstGeom prst="ellipse">
            <a:avLst/>
          </a:prstGeom>
          <a:solidFill>
            <a:srgbClr val="1E88E5">
              <a:alpha val="10000"/>
            </a:srgbClr>
          </a:solidFill>
          <a:ln w="12700">
            <a:solidFill>
              <a:srgbClr val="1E88E5">
                <a:alpha val="10000"/>
              </a:srgbClr>
            </a:solidFill>
            <a:prstDash val="solid"/>
          </a:ln>
        </p:spPr>
      </p:sp>
      <p:sp>
        <p:nvSpPr>
          <p:cNvPr id="5" name="Shape 3"/>
          <p:cNvSpPr/>
          <p:nvPr/>
        </p:nvSpPr>
        <p:spPr>
          <a:xfrm>
            <a:off x="2743200" y="914400"/>
            <a:ext cx="3657600" cy="3657600"/>
          </a:xfrm>
          <a:prstGeom prst="ellipse">
            <a:avLst/>
          </a:prstGeom>
          <a:solidFill>
            <a:srgbClr val="00897B">
              <a:alpha val="8000"/>
            </a:srgbClr>
          </a:solidFill>
          <a:ln w="12700">
            <a:solidFill>
              <a:srgbClr val="00897B">
                <a:alpha val="10000"/>
              </a:srgbClr>
            </a:solidFill>
            <a:prstDash val="solid"/>
          </a:ln>
        </p:spPr>
      </p:sp>
      <p:sp>
        <p:nvSpPr>
          <p:cNvPr id="6" name="Text 4"/>
          <p:cNvSpPr/>
          <p:nvPr/>
        </p:nvSpPr>
        <p:spPr>
          <a:xfrm>
            <a:off x="457200" y="1463040"/>
            <a:ext cx="8229600" cy="1005840"/>
          </a:xfrm>
          <a:prstGeom prst="rect">
            <a:avLst/>
          </a:prstGeom>
          <a:noFill/>
          <a:ln/>
        </p:spPr>
        <p:txBody>
          <a:bodyPr wrap="square"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7" name="Text 5"/>
          <p:cNvSpPr/>
          <p:nvPr/>
        </p:nvSpPr>
        <p:spPr>
          <a:xfrm>
            <a:off x="914400" y="2514600"/>
            <a:ext cx="7315200" cy="365760"/>
          </a:xfrm>
          <a:prstGeom prst="rect">
            <a:avLst/>
          </a:prstGeom>
          <a:noFill/>
          <a:ln/>
        </p:spPr>
        <p:txBody>
          <a:bodyPr wrap="square" rtlCol="0" anchor="ctr"/>
          <a:lstStyle/>
          <a:p>
            <a:pPr algn="ctr" indent="0" marL="0">
              <a:buNone/>
            </a:pPr>
            <a:r>
              <a:rPr lang="en-US" sz="1300" dirty="0">
                <a:solidFill>
                  <a:srgbClr val="A8C9C9"/>
                </a:solidFill>
                <a:latin typeface="Calibri" pitchFamily="34" charset="0"/>
                <a:ea typeface="Calibri" pitchFamily="34" charset="-122"/>
                <a:cs typeface="Calibri" pitchFamily="34" charset="-120"/>
              </a:rPr>
              <a:t>EV Charging Demand Forecasting</a:t>
            </a:r>
            <a:endParaRPr lang="en-US" sz="1300" dirty="0"/>
          </a:p>
        </p:txBody>
      </p:sp>
      <p:sp>
        <p:nvSpPr>
          <p:cNvPr id="8" name="Shape 6"/>
          <p:cNvSpPr/>
          <p:nvPr/>
        </p:nvSpPr>
        <p:spPr>
          <a:xfrm>
            <a:off x="1463040" y="3154680"/>
            <a:ext cx="1920240" cy="777240"/>
          </a:xfrm>
          <a:prstGeom prst="roundRect">
            <a:avLst>
              <a:gd name="adj" fmla="val 14118"/>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9" name="Text 7"/>
          <p:cNvSpPr/>
          <p:nvPr/>
        </p:nvSpPr>
        <p:spPr>
          <a:xfrm>
            <a:off x="1508760" y="3200400"/>
            <a:ext cx="1828800" cy="347472"/>
          </a:xfrm>
          <a:prstGeom prst="rect">
            <a:avLst/>
          </a:prstGeom>
          <a:noFill/>
          <a:ln/>
        </p:spPr>
        <p:txBody>
          <a:bodyPr wrap="square" rtlCol="0" anchor="ctr"/>
          <a:lstStyle/>
          <a:p>
            <a:pPr algn="ctr" indent="0" marL="0">
              <a:buNone/>
            </a:pPr>
            <a:r>
              <a:rPr lang="en-US" sz="1100" b="1" dirty="0">
                <a:solidFill>
                  <a:srgbClr val="FFD54F"/>
                </a:solidFill>
                <a:latin typeface="Calibri" pitchFamily="34" charset="0"/>
                <a:ea typeface="Calibri" pitchFamily="34" charset="-122"/>
                <a:cs typeface="Calibri" pitchFamily="34" charset="-120"/>
              </a:rPr>
              <a:t>Prophet + ARIMA</a:t>
            </a:r>
            <a:endParaRPr lang="en-US" sz="1100" dirty="0"/>
          </a:p>
        </p:txBody>
      </p:sp>
      <p:sp>
        <p:nvSpPr>
          <p:cNvPr id="10" name="Text 8"/>
          <p:cNvSpPr/>
          <p:nvPr/>
        </p:nvSpPr>
        <p:spPr>
          <a:xfrm>
            <a:off x="1508760" y="3520440"/>
            <a:ext cx="1828800" cy="256032"/>
          </a:xfrm>
          <a:prstGeom prst="rect">
            <a:avLst/>
          </a:prstGeom>
          <a:noFill/>
          <a:ln/>
        </p:spPr>
        <p:txBody>
          <a:bodyPr wrap="square" rtlCol="0" anchor="ctr"/>
          <a:lstStyle/>
          <a:p>
            <a:pPr algn="ctr" indent="0" marL="0">
              <a:buNone/>
            </a:pPr>
            <a:r>
              <a:rPr lang="en-US" sz="800" dirty="0">
                <a:solidFill>
                  <a:srgbClr val="A8C9C9"/>
                </a:solidFill>
                <a:latin typeface="Calibri" pitchFamily="34" charset="0"/>
                <a:ea typeface="Calibri" pitchFamily="34" charset="-122"/>
                <a:cs typeface="Calibri" pitchFamily="34" charset="-120"/>
              </a:rPr>
              <a:t>Models</a:t>
            </a:r>
            <a:endParaRPr lang="en-US" sz="800" dirty="0"/>
          </a:p>
        </p:txBody>
      </p:sp>
      <p:sp>
        <p:nvSpPr>
          <p:cNvPr id="11" name="Shape 9"/>
          <p:cNvSpPr/>
          <p:nvPr/>
        </p:nvSpPr>
        <p:spPr>
          <a:xfrm>
            <a:off x="3749040" y="3154680"/>
            <a:ext cx="1920240" cy="777240"/>
          </a:xfrm>
          <a:prstGeom prst="roundRect">
            <a:avLst>
              <a:gd name="adj" fmla="val 14118"/>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12" name="Text 10"/>
          <p:cNvSpPr/>
          <p:nvPr/>
        </p:nvSpPr>
        <p:spPr>
          <a:xfrm>
            <a:off x="3794760" y="3200400"/>
            <a:ext cx="1828800" cy="347472"/>
          </a:xfrm>
          <a:prstGeom prst="rect">
            <a:avLst/>
          </a:prstGeom>
          <a:noFill/>
          <a:ln/>
        </p:spPr>
        <p:txBody>
          <a:bodyPr wrap="square" rtlCol="0" anchor="ctr"/>
          <a:lstStyle/>
          <a:p>
            <a:pPr algn="ctr" indent="0" marL="0">
              <a:buNone/>
            </a:pPr>
            <a:r>
              <a:rPr lang="en-US" sz="1100" b="1" dirty="0">
                <a:solidFill>
                  <a:srgbClr val="FFD54F"/>
                </a:solidFill>
                <a:latin typeface="Calibri" pitchFamily="34" charset="0"/>
                <a:ea typeface="Calibri" pitchFamily="34" charset="-122"/>
                <a:cs typeface="Calibri" pitchFamily="34" charset="-120"/>
              </a:rPr>
              <a:t>13.9% MAPE</a:t>
            </a:r>
            <a:endParaRPr lang="en-US" sz="1100" dirty="0"/>
          </a:p>
        </p:txBody>
      </p:sp>
      <p:sp>
        <p:nvSpPr>
          <p:cNvPr id="13" name="Text 11"/>
          <p:cNvSpPr/>
          <p:nvPr/>
        </p:nvSpPr>
        <p:spPr>
          <a:xfrm>
            <a:off x="3794760" y="3520440"/>
            <a:ext cx="1828800" cy="256032"/>
          </a:xfrm>
          <a:prstGeom prst="rect">
            <a:avLst/>
          </a:prstGeom>
          <a:noFill/>
          <a:ln/>
        </p:spPr>
        <p:txBody>
          <a:bodyPr wrap="square" rtlCol="0" anchor="ctr"/>
          <a:lstStyle/>
          <a:p>
            <a:pPr algn="ctr" indent="0" marL="0">
              <a:buNone/>
            </a:pPr>
            <a:r>
              <a:rPr lang="en-US" sz="800" dirty="0">
                <a:solidFill>
                  <a:srgbClr val="A8C9C9"/>
                </a:solidFill>
                <a:latin typeface="Calibri" pitchFamily="34" charset="0"/>
                <a:ea typeface="Calibri" pitchFamily="34" charset="-122"/>
                <a:cs typeface="Calibri" pitchFamily="34" charset="-120"/>
              </a:rPr>
              <a:t>Accuracy</a:t>
            </a:r>
            <a:endParaRPr lang="en-US" sz="800" dirty="0"/>
          </a:p>
        </p:txBody>
      </p:sp>
      <p:sp>
        <p:nvSpPr>
          <p:cNvPr id="14" name="Shape 12"/>
          <p:cNvSpPr/>
          <p:nvPr/>
        </p:nvSpPr>
        <p:spPr>
          <a:xfrm>
            <a:off x="6035040" y="3154680"/>
            <a:ext cx="1920240" cy="777240"/>
          </a:xfrm>
          <a:prstGeom prst="roundRect">
            <a:avLst>
              <a:gd name="adj" fmla="val 14118"/>
            </a:avLst>
          </a:prstGeom>
          <a:solidFill>
            <a:srgbClr val="FFFFFF">
              <a:alpha val="7000"/>
            </a:srgbClr>
          </a:solidFill>
          <a:ln w="6350">
            <a:solidFill>
              <a:srgbClr val="FFFFFF">
                <a:alpha val="20000"/>
              </a:srgbClr>
            </a:solidFill>
            <a:prstDash val="solid"/>
          </a:ln>
          <a:effectLst>
            <a:outerShdw sx="100000" sy="100000" kx="0" ky="0" algn="bl" rotWithShape="0" blurRad="101600" dist="38100" dir="2700000">
              <a:srgbClr val="000000">
                <a:alpha val="18000"/>
              </a:srgbClr>
            </a:outerShdw>
          </a:effectLst>
        </p:spPr>
      </p:sp>
      <p:sp>
        <p:nvSpPr>
          <p:cNvPr id="15" name="Text 13"/>
          <p:cNvSpPr/>
          <p:nvPr/>
        </p:nvSpPr>
        <p:spPr>
          <a:xfrm>
            <a:off x="6080760" y="3200400"/>
            <a:ext cx="1828800" cy="347472"/>
          </a:xfrm>
          <a:prstGeom prst="rect">
            <a:avLst/>
          </a:prstGeom>
          <a:noFill/>
          <a:ln/>
        </p:spPr>
        <p:txBody>
          <a:bodyPr wrap="square" rtlCol="0" anchor="ctr"/>
          <a:lstStyle/>
          <a:p>
            <a:pPr algn="ctr" indent="0" marL="0">
              <a:buNone/>
            </a:pPr>
            <a:r>
              <a:rPr lang="en-US" sz="1100" b="1" dirty="0">
                <a:solidFill>
                  <a:srgbClr val="FFD54F"/>
                </a:solidFill>
                <a:latin typeface="Calibri" pitchFamily="34" charset="0"/>
                <a:ea typeface="Calibri" pitchFamily="34" charset="-122"/>
                <a:cs typeface="Calibri" pitchFamily="34" charset="-120"/>
              </a:rPr>
              <a:t>80 kWh/hr</a:t>
            </a:r>
            <a:endParaRPr lang="en-US" sz="1100" dirty="0"/>
          </a:p>
        </p:txBody>
      </p:sp>
      <p:sp>
        <p:nvSpPr>
          <p:cNvPr id="16" name="Text 14"/>
          <p:cNvSpPr/>
          <p:nvPr/>
        </p:nvSpPr>
        <p:spPr>
          <a:xfrm>
            <a:off x="6080760" y="3520440"/>
            <a:ext cx="1828800" cy="256032"/>
          </a:xfrm>
          <a:prstGeom prst="rect">
            <a:avLst/>
          </a:prstGeom>
          <a:noFill/>
          <a:ln/>
        </p:spPr>
        <p:txBody>
          <a:bodyPr wrap="square" rtlCol="0" anchor="ctr"/>
          <a:lstStyle/>
          <a:p>
            <a:pPr algn="ctr" indent="0" marL="0">
              <a:buNone/>
            </a:pPr>
            <a:r>
              <a:rPr lang="en-US" sz="800" dirty="0">
                <a:solidFill>
                  <a:srgbClr val="A8C9C9"/>
                </a:solidFill>
                <a:latin typeface="Calibri" pitchFamily="34" charset="0"/>
                <a:ea typeface="Calibri" pitchFamily="34" charset="-122"/>
                <a:cs typeface="Calibri" pitchFamily="34" charset="-120"/>
              </a:rPr>
              <a:t>Capacity Rec.</a:t>
            </a:r>
            <a:endParaRPr lang="en-US" sz="800" dirty="0"/>
          </a:p>
        </p:txBody>
      </p:sp>
      <p:sp>
        <p:nvSpPr>
          <p:cNvPr id="17" name="Text 15"/>
          <p:cNvSpPr/>
          <p:nvPr/>
        </p:nvSpPr>
        <p:spPr>
          <a:xfrm>
            <a:off x="457200" y="4663440"/>
            <a:ext cx="8229600" cy="274320"/>
          </a:xfrm>
          <a:prstGeom prst="rect">
            <a:avLst/>
          </a:prstGeom>
          <a:noFill/>
          <a:ln/>
        </p:spPr>
        <p:txBody>
          <a:bodyPr wrap="square" rtlCol="0" anchor="ctr"/>
          <a:lstStyle/>
          <a:p>
            <a:pPr algn="ctr" indent="0" marL="0">
              <a:buNone/>
            </a:pPr>
            <a:r>
              <a:rPr lang="en-US" sz="800" i="1" dirty="0">
                <a:solidFill>
                  <a:srgbClr val="A8C9C9"/>
                </a:solidFill>
                <a:latin typeface="Calibri" pitchFamily="34" charset="0"/>
                <a:ea typeface="Calibri" pitchFamily="34" charset="-122"/>
                <a:cs typeface="Calibri" pitchFamily="34" charset="-120"/>
              </a:rPr>
              <a:t>Built with Python · Prophet · ARIMA · Tableau · Streamlit</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 Charging Demand Forecasting</dc:title>
  <dc:subject>PptxGenJS Presentation</dc:subject>
  <dc:creator>Data Science Portfolio</dc:creator>
  <cp:lastModifiedBy>Data Science Portfolio</cp:lastModifiedBy>
  <cp:revision>1</cp:revision>
  <dcterms:created xsi:type="dcterms:W3CDTF">2026-06-30T09:31:59Z</dcterms:created>
  <dcterms:modified xsi:type="dcterms:W3CDTF">2026-06-30T09:31:59Z</dcterms:modified>
</cp:coreProperties>
</file>